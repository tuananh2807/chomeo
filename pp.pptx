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2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-1280160"/>
            <a:ext cx="4754880" cy="4754880"/>
          </a:xfrm>
          <a:prstGeom prst="ellipse">
            <a:avLst/>
          </a:prstGeom>
          <a:solidFill>
            <a:srgbClr val="FF4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926080" y="-1097280"/>
            <a:ext cx="4389120" cy="4389120"/>
          </a:xfrm>
          <a:prstGeom prst="ellipse">
            <a:avLst/>
          </a:prstGeom>
          <a:solidFill>
            <a:srgbClr val="5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035040" y="4114800"/>
            <a:ext cx="4389120" cy="4389120"/>
          </a:xfrm>
          <a:prstGeom prst="ellipse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-822960" y="-1005840"/>
            <a:ext cx="8686800" cy="8229600"/>
          </a:xfrm>
          <a:prstGeom prst="roundRect">
            <a:avLst/>
          </a:prstGeom>
          <a:solidFill>
            <a:srgbClr val="0F3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594360"/>
            <a:ext cx="4251960" cy="2743200"/>
          </a:xfrm>
          <a:prstGeom prst="rect">
            <a:avLst/>
          </a:prstGeom>
        </p:spPr>
      </p:pic>
      <p:pic>
        <p:nvPicPr>
          <p:cNvPr id="8" name="Picture 7" descr="19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520440"/>
            <a:ext cx="4251960" cy="2697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914400"/>
            <a:ext cx="5594801" cy="15081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 i="0">
                <a:solidFill>
                  <a:srgbClr val="FFFFFF"/>
                </a:solidFill>
                <a:latin typeface="Calibri"/>
              </a:defRPr>
            </a:pPr>
            <a:r>
              <a:rPr dirty="0"/>
              <a:t>XÂY DỰNG HỆ THỐNG</a:t>
            </a:r>
            <a:br>
              <a:rPr dirty="0"/>
            </a:br>
            <a:r>
              <a:rPr dirty="0"/>
              <a:t>NHẬN DIỆN CHÓ </a:t>
            </a:r>
            <a:r>
              <a:rPr lang="vi-VN" dirty="0"/>
              <a:t>MÈ0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1267835" y="2568809"/>
            <a:ext cx="3749039" cy="530352"/>
          </a:xfrm>
          <a:prstGeom prst="roundRect">
            <a:avLst/>
          </a:prstGeom>
          <a:solidFill>
            <a:srgbClr val="FF5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557262" y="3365320"/>
            <a:ext cx="3106178" cy="1088136"/>
          </a:xfrm>
          <a:prstGeom prst="roundRect">
            <a:avLst/>
          </a:prstGeom>
          <a:solidFill>
            <a:srgbClr val="6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73799" y="2653331"/>
            <a:ext cx="348108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 i="0">
                <a:solidFill>
                  <a:srgbClr val="DFECFF"/>
                </a:solidFill>
                <a:latin typeface="Calibri"/>
              </a:defRPr>
            </a:pPr>
            <a:r>
              <a:rPr lang="vi-VN" dirty="0"/>
              <a:t>GVGD: TS. NGUYỄN TUẤN LINH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7185" y="3255264"/>
            <a:ext cx="34655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DFECFF"/>
                </a:solidFill>
                <a:latin typeface="Calibri"/>
              </a:defRPr>
            </a:pPr>
            <a:endParaRPr lang="vi-VN" dirty="0"/>
          </a:p>
          <a:p>
            <a:pPr>
              <a:defRPr sz="2000" b="1" i="0">
                <a:solidFill>
                  <a:srgbClr val="DFECFF"/>
                </a:solidFill>
                <a:latin typeface="Calibri"/>
              </a:defRPr>
            </a:pPr>
            <a:r>
              <a:rPr dirty="0"/>
              <a:t>Sinh </a:t>
            </a:r>
            <a:r>
              <a:rPr dirty="0" err="1"/>
              <a:t>viên</a:t>
            </a:r>
            <a:r>
              <a:rPr dirty="0"/>
              <a:t>: LÊ TUẤN ANH</a:t>
            </a:r>
            <a:endParaRPr lang="vi-VN" dirty="0"/>
          </a:p>
          <a:p>
            <a:pPr>
              <a:defRPr sz="2000" b="1" i="0">
                <a:solidFill>
                  <a:srgbClr val="DFECFF"/>
                </a:solidFill>
                <a:latin typeface="Calibri"/>
              </a:defRPr>
            </a:pPr>
            <a:r>
              <a:rPr lang="vi-VN" dirty="0"/>
              <a:t>MSSV: K225480106001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11018520" y="6565392"/>
            <a:ext cx="914400" cy="21945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172741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1051560"/>
          </a:xfrm>
          <a:prstGeom prst="rect">
            <a:avLst/>
          </a:prstGeom>
          <a:solidFill>
            <a:srgbClr val="FF4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754880" cy="20116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4880" y="914400"/>
            <a:ext cx="3200400" cy="201168"/>
          </a:xfrm>
          <a:prstGeom prst="rect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0" y="-411480"/>
            <a:ext cx="2926080" cy="29260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0" y="-320040"/>
            <a:ext cx="2194560" cy="2194560"/>
          </a:xfrm>
          <a:prstGeom prst="ellipse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5-Point Star 8"/>
          <p:cNvSpPr/>
          <p:nvPr/>
        </p:nvSpPr>
        <p:spPr>
          <a:xfrm>
            <a:off x="9646920" y="137160"/>
            <a:ext cx="320040" cy="320040"/>
          </a:xfrm>
          <a:prstGeom prst="star5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5-Point Star 9"/>
          <p:cNvSpPr/>
          <p:nvPr/>
        </p:nvSpPr>
        <p:spPr>
          <a:xfrm>
            <a:off x="10058400" y="530352"/>
            <a:ext cx="201168" cy="201168"/>
          </a:xfrm>
          <a:prstGeom prst="star5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"/>
            <a:ext cx="9418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MỤC LỤC TRÌNH BÀY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26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DCEAFF"/>
                </a:solidFill>
                <a:latin typeface="Calibri"/>
              </a:defRPr>
            </a:pPr>
            <a:r>
              <a:t>Lộ trình 26 trang, tập trung kỹ thuật và hệ thống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82880"/>
            <a:ext cx="1828800" cy="384048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30968" y="24688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NỘI DUNG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1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1298448"/>
            <a:ext cx="7726679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CD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6072" y="1371600"/>
            <a:ext cx="7580375" cy="4928616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0" y="1298448"/>
            <a:ext cx="3291840" cy="5074920"/>
          </a:xfrm>
          <a:prstGeom prst="roundRect">
            <a:avLst/>
          </a:prstGeom>
          <a:solidFill>
            <a:srgbClr val="E9F3FF"/>
          </a:solidFill>
          <a:ln>
            <a:solidFill>
              <a:srgbClr val="B9C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67344" y="1353312"/>
            <a:ext cx="3182112" cy="4965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1746504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1645920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Bối cảnh, mục tiêu và bài toán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2551176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2450592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Cơ sở lý thuyết và phương pháp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3355848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3255264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Kiến trúc mã nguồn 5 lớp và phân quyền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160520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4059936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Dữ liệu, huấn luyện và đánh giá mô hình</a:t>
            </a:r>
          </a:p>
        </p:txBody>
      </p:sp>
      <p:sp>
        <p:nvSpPr>
          <p:cNvPr id="28" name="Oval 27"/>
          <p:cNvSpPr/>
          <p:nvPr/>
        </p:nvSpPr>
        <p:spPr>
          <a:xfrm>
            <a:off x="868680" y="4965192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9848" y="4864608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Kết quả thực nghiệm, lỗi và hạn chế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" y="5769864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9848" y="5669280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Kết luận và hướng phát triển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41080" y="1554480"/>
            <a:ext cx="2834640" cy="420624"/>
          </a:xfrm>
          <a:prstGeom prst="roundRect">
            <a:avLst/>
          </a:prstGeom>
          <a:solidFill>
            <a:srgbClr val="6D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32520" y="1664208"/>
            <a:ext cx="2651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ẢNH MINH HỌA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41080" y="2057400"/>
            <a:ext cx="2834640" cy="4069080"/>
          </a:xfrm>
          <a:prstGeom prst="roundRect">
            <a:avLst/>
          </a:prstGeom>
          <a:solidFill>
            <a:srgbClr val="FAFDFF"/>
          </a:solidFill>
          <a:ln>
            <a:solidFill>
              <a:srgbClr val="B6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686800" y="2103120"/>
            <a:ext cx="27432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9E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48840"/>
            <a:ext cx="2651760" cy="388620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11018520" y="6565392"/>
            <a:ext cx="914400" cy="21945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172741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1051560"/>
          </a:xfrm>
          <a:prstGeom prst="rect">
            <a:avLst/>
          </a:prstGeom>
          <a:solidFill>
            <a:srgbClr val="00D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754880" cy="201168"/>
          </a:xfrm>
          <a:prstGeom prst="rect">
            <a:avLst/>
          </a:prstGeom>
          <a:solidFill>
            <a:srgbClr val="27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4880" y="914400"/>
            <a:ext cx="3200400" cy="201168"/>
          </a:xfrm>
          <a:prstGeom prst="rect">
            <a:avLst/>
          </a:prstGeom>
          <a:solidFill>
            <a:srgbClr val="9C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0" y="-411480"/>
            <a:ext cx="2926080" cy="2926080"/>
          </a:xfrm>
          <a:prstGeom prst="ellipse">
            <a:avLst/>
          </a:prstGeom>
          <a:solidFill>
            <a:srgbClr val="27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0" y="-320040"/>
            <a:ext cx="2194560" cy="2194560"/>
          </a:xfrm>
          <a:prstGeom prst="ellipse">
            <a:avLst/>
          </a:prstGeom>
          <a:solidFill>
            <a:srgbClr val="9C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5-Point Star 8"/>
          <p:cNvSpPr/>
          <p:nvPr/>
        </p:nvSpPr>
        <p:spPr>
          <a:xfrm>
            <a:off x="9646920" y="137160"/>
            <a:ext cx="320040" cy="320040"/>
          </a:xfrm>
          <a:prstGeom prst="star5">
            <a:avLst/>
          </a:prstGeom>
          <a:solidFill>
            <a:srgbClr val="27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5-Point Star 9"/>
          <p:cNvSpPr/>
          <p:nvPr/>
        </p:nvSpPr>
        <p:spPr>
          <a:xfrm>
            <a:off x="10058400" y="530352"/>
            <a:ext cx="201168" cy="201168"/>
          </a:xfrm>
          <a:prstGeom prst="star5">
            <a:avLst/>
          </a:prstGeom>
          <a:solidFill>
            <a:srgbClr val="9C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"/>
            <a:ext cx="9418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BỐI CẢNH VÀ ĐẶT VẤN ĐỀ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26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DCEAFF"/>
                </a:solidFill>
                <a:latin typeface="Calibri"/>
              </a:defRPr>
            </a:pPr>
            <a:r>
              <a:t>Nhu cầu nhận diện ảnh trong ứng dụng thực tế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82880"/>
            <a:ext cx="1828800" cy="384048"/>
          </a:xfrm>
          <a:prstGeom prst="roundRect">
            <a:avLst/>
          </a:prstGeom>
          <a:solidFill>
            <a:srgbClr val="27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30968" y="24688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NỘI DUNG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1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1298448"/>
            <a:ext cx="7726679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CD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6072" y="1371600"/>
            <a:ext cx="7580375" cy="4928616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0" y="1298448"/>
            <a:ext cx="3291840" cy="5074920"/>
          </a:xfrm>
          <a:prstGeom prst="roundRect">
            <a:avLst/>
          </a:prstGeom>
          <a:solidFill>
            <a:srgbClr val="E9F3FF"/>
          </a:solidFill>
          <a:ln>
            <a:solidFill>
              <a:srgbClr val="B9C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67344" y="1353312"/>
            <a:ext cx="3182112" cy="4965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1746504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1645920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Phân loại ảnh là bài toán trọng tâm của thị giác máy tính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2551176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2450592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Nhận diện chó mèo tưởng đơn giản với người nhưng khó với máy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3355848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3255264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Ảnh thực tế đa dạng về góc chụp, ánh sáng và nhiễu nền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160520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4059936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Đề tài xây hệ thống hoàn chỉnh từ mô hình đến ứng dụng web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1554480"/>
            <a:ext cx="2834640" cy="420624"/>
          </a:xfrm>
          <a:prstGeom prst="roundRect">
            <a:avLst/>
          </a:prstGeom>
          <a:solidFill>
            <a:srgbClr val="6D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32520" y="1664208"/>
            <a:ext cx="2651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ẢNH MINH HỌA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2057400"/>
            <a:ext cx="2834640" cy="4069080"/>
          </a:xfrm>
          <a:prstGeom prst="roundRect">
            <a:avLst/>
          </a:prstGeom>
          <a:solidFill>
            <a:srgbClr val="FAFDFF"/>
          </a:solidFill>
          <a:ln>
            <a:solidFill>
              <a:srgbClr val="B6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86800" y="2103120"/>
            <a:ext cx="27432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9E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1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48840"/>
            <a:ext cx="2651760" cy="38862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1018520" y="6565392"/>
            <a:ext cx="914400" cy="21945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172741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1051560"/>
          </a:xfrm>
          <a:prstGeom prst="rect">
            <a:avLst/>
          </a:prstGeom>
          <a:solidFill>
            <a:srgbClr val="FF7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754880" cy="201168"/>
          </a:xfrm>
          <a:prstGeom prst="rect">
            <a:avLst/>
          </a:prstGeom>
          <a:solidFill>
            <a:srgbClr val="BE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4880" y="914400"/>
            <a:ext cx="3200400" cy="201168"/>
          </a:xfrm>
          <a:prstGeom prst="rect">
            <a:avLst/>
          </a:prstGeom>
          <a:solidFill>
            <a:srgbClr val="4D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0" y="-411480"/>
            <a:ext cx="2926080" cy="2926080"/>
          </a:xfrm>
          <a:prstGeom prst="ellipse">
            <a:avLst/>
          </a:prstGeom>
          <a:solidFill>
            <a:srgbClr val="BE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0" y="-320040"/>
            <a:ext cx="2194560" cy="2194560"/>
          </a:xfrm>
          <a:prstGeom prst="ellipse">
            <a:avLst/>
          </a:prstGeom>
          <a:solidFill>
            <a:srgbClr val="4D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5-Point Star 8"/>
          <p:cNvSpPr/>
          <p:nvPr/>
        </p:nvSpPr>
        <p:spPr>
          <a:xfrm>
            <a:off x="9646920" y="137160"/>
            <a:ext cx="320040" cy="320040"/>
          </a:xfrm>
          <a:prstGeom prst="star5">
            <a:avLst/>
          </a:prstGeom>
          <a:solidFill>
            <a:srgbClr val="BE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5-Point Star 9"/>
          <p:cNvSpPr/>
          <p:nvPr/>
        </p:nvSpPr>
        <p:spPr>
          <a:xfrm>
            <a:off x="10058400" y="530352"/>
            <a:ext cx="201168" cy="201168"/>
          </a:xfrm>
          <a:prstGeom prst="star5">
            <a:avLst/>
          </a:prstGeom>
          <a:solidFill>
            <a:srgbClr val="4D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"/>
            <a:ext cx="9418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MÔ TẢ BÀI TOÁN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26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DCEAFF"/>
                </a:solidFill>
                <a:latin typeface="Calibri"/>
              </a:defRPr>
            </a:pPr>
            <a:r>
              <a:t>Bài toán phân loại nhị phân trên ảnh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82880"/>
            <a:ext cx="1828800" cy="384048"/>
          </a:xfrm>
          <a:prstGeom prst="roundRect">
            <a:avLst/>
          </a:prstGeom>
          <a:solidFill>
            <a:srgbClr val="BE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30968" y="24688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NỘI DUNG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1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1298448"/>
            <a:ext cx="7726679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CD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6072" y="1371600"/>
            <a:ext cx="7580375" cy="4928616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0" y="1298448"/>
            <a:ext cx="3291840" cy="5074920"/>
          </a:xfrm>
          <a:prstGeom prst="roundRect">
            <a:avLst/>
          </a:prstGeom>
          <a:solidFill>
            <a:srgbClr val="E9F3FF"/>
          </a:solidFill>
          <a:ln>
            <a:solidFill>
              <a:srgbClr val="B9C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67344" y="1353312"/>
            <a:ext cx="3182112" cy="4965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1746504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1645920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Đầu vào là ảnh tải lên từ máy tính người dùng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2551176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2450592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Đầu ra là nhãn Chó hoặc Mèo kèm độ tin cậy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3355848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3255264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Yêu cầu phản hồi nhanh và dễ dùng trên giao diện web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160520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4059936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Có cơ chế phân quyền theo vai trò sử dụng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1554480"/>
            <a:ext cx="2834640" cy="420624"/>
          </a:xfrm>
          <a:prstGeom prst="roundRect">
            <a:avLst/>
          </a:prstGeom>
          <a:solidFill>
            <a:srgbClr val="6D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32520" y="1664208"/>
            <a:ext cx="2651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ẢNH MINH HỌA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2057400"/>
            <a:ext cx="2834640" cy="4069080"/>
          </a:xfrm>
          <a:prstGeom prst="roundRect">
            <a:avLst/>
          </a:prstGeom>
          <a:solidFill>
            <a:srgbClr val="FAFDFF"/>
          </a:solidFill>
          <a:ln>
            <a:solidFill>
              <a:srgbClr val="B6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86800" y="2103120"/>
            <a:ext cx="27432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9E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2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48840"/>
            <a:ext cx="2651760" cy="38862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1018520" y="6565392"/>
            <a:ext cx="914400" cy="21945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172741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1051560"/>
          </a:xfrm>
          <a:prstGeom prst="rect">
            <a:avLst/>
          </a:prstGeom>
          <a:solidFill>
            <a:srgbClr val="81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754880" cy="201168"/>
          </a:xfrm>
          <a:prstGeom prst="rect">
            <a:avLst/>
          </a:prstGeom>
          <a:solidFill>
            <a:srgbClr val="FF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4880" y="914400"/>
            <a:ext cx="3200400" cy="2011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0" y="-411480"/>
            <a:ext cx="2926080" cy="2926080"/>
          </a:xfrm>
          <a:prstGeom prst="ellipse">
            <a:avLst/>
          </a:prstGeom>
          <a:solidFill>
            <a:srgbClr val="FF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0" y="-320040"/>
            <a:ext cx="2194560" cy="219456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5-Point Star 8"/>
          <p:cNvSpPr/>
          <p:nvPr/>
        </p:nvSpPr>
        <p:spPr>
          <a:xfrm>
            <a:off x="9646920" y="137160"/>
            <a:ext cx="320040" cy="320040"/>
          </a:xfrm>
          <a:prstGeom prst="star5">
            <a:avLst/>
          </a:prstGeom>
          <a:solidFill>
            <a:srgbClr val="FF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5-Point Star 9"/>
          <p:cNvSpPr/>
          <p:nvPr/>
        </p:nvSpPr>
        <p:spPr>
          <a:xfrm>
            <a:off x="10058400" y="530352"/>
            <a:ext cx="201168" cy="201168"/>
          </a:xfrm>
          <a:prstGeom prst="star5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"/>
            <a:ext cx="9418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ĐẦU VÀO CỦA HỆ THỐNG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26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DCEAFF"/>
                </a:solidFill>
                <a:latin typeface="Calibri"/>
              </a:defRPr>
            </a:pPr>
            <a:r>
              <a:t>Chuẩn dữ liệu ảnh trước khi suy luận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82880"/>
            <a:ext cx="1828800" cy="384048"/>
          </a:xfrm>
          <a:prstGeom prst="roundRect">
            <a:avLst/>
          </a:prstGeom>
          <a:solidFill>
            <a:srgbClr val="FF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30968" y="24688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NỘI DUNG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1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1298448"/>
            <a:ext cx="7726679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CD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6072" y="1371600"/>
            <a:ext cx="7580375" cy="4928616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0" y="1298448"/>
            <a:ext cx="3291840" cy="5074920"/>
          </a:xfrm>
          <a:prstGeom prst="roundRect">
            <a:avLst/>
          </a:prstGeom>
          <a:solidFill>
            <a:srgbClr val="E9F3FF"/>
          </a:solidFill>
          <a:ln>
            <a:solidFill>
              <a:srgbClr val="B9C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67344" y="1353312"/>
            <a:ext cx="3182112" cy="4965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1746504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1645920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Nguồn ảnh từ khách hoặc người dùng tải lên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2551176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2450592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Hỗ trợ các định dạng ảnh phổ biến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3355848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3255264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Ảnh được chuyển về RGB và đổi kích thước 160 x 160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160520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4059936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Giá trị điểm ảnh được chuẩn hóa về miền từ 0 đến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1554480"/>
            <a:ext cx="2834640" cy="420624"/>
          </a:xfrm>
          <a:prstGeom prst="roundRect">
            <a:avLst/>
          </a:prstGeom>
          <a:solidFill>
            <a:srgbClr val="6D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32520" y="1664208"/>
            <a:ext cx="2651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ẢNH MINH HỌA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2057400"/>
            <a:ext cx="2834640" cy="4069080"/>
          </a:xfrm>
          <a:prstGeom prst="roundRect">
            <a:avLst/>
          </a:prstGeom>
          <a:solidFill>
            <a:srgbClr val="FAFDFF"/>
          </a:solidFill>
          <a:ln>
            <a:solidFill>
              <a:srgbClr val="B6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86800" y="2103120"/>
            <a:ext cx="27432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9E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2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48840"/>
            <a:ext cx="2651760" cy="38862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1018520" y="6565392"/>
            <a:ext cx="914400" cy="21945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172741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1051560"/>
          </a:xfrm>
          <a:prstGeom prst="rect">
            <a:avLst/>
          </a:prstGeom>
          <a:solidFill>
            <a:srgbClr val="FF4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754880" cy="20116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4880" y="914400"/>
            <a:ext cx="3200400" cy="201168"/>
          </a:xfrm>
          <a:prstGeom prst="rect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0" y="-411480"/>
            <a:ext cx="2926080" cy="29260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0" y="-320040"/>
            <a:ext cx="2194560" cy="2194560"/>
          </a:xfrm>
          <a:prstGeom prst="ellipse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5-Point Star 8"/>
          <p:cNvSpPr/>
          <p:nvPr/>
        </p:nvSpPr>
        <p:spPr>
          <a:xfrm>
            <a:off x="9646920" y="137160"/>
            <a:ext cx="320040" cy="320040"/>
          </a:xfrm>
          <a:prstGeom prst="star5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5-Point Star 9"/>
          <p:cNvSpPr/>
          <p:nvPr/>
        </p:nvSpPr>
        <p:spPr>
          <a:xfrm>
            <a:off x="10058400" y="530352"/>
            <a:ext cx="201168" cy="201168"/>
          </a:xfrm>
          <a:prstGeom prst="star5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"/>
            <a:ext cx="9418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ĐẦU RA CỦA HỆ THỐNG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26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DCEAFF"/>
                </a:solidFill>
                <a:latin typeface="Calibri"/>
              </a:defRPr>
            </a:pPr>
            <a:r>
              <a:t>Kết quả hiển thị trực tiếp trên web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82880"/>
            <a:ext cx="1828800" cy="384048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30968" y="24688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NỘI DUNG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1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1298448"/>
            <a:ext cx="7726679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CD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6072" y="1371600"/>
            <a:ext cx="7580375" cy="4928616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0" y="1298448"/>
            <a:ext cx="3291840" cy="5074920"/>
          </a:xfrm>
          <a:prstGeom prst="roundRect">
            <a:avLst/>
          </a:prstGeom>
          <a:solidFill>
            <a:srgbClr val="E9F3FF"/>
          </a:solidFill>
          <a:ln>
            <a:solidFill>
              <a:srgbClr val="B9C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67344" y="1353312"/>
            <a:ext cx="3182112" cy="4965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1746504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1645920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Nhãn phân loại: Chó hoặc Mèo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2551176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2450592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Hiển thị độ tin cậy theo phần trăm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3355848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3255264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Người dùng thường có thể lưu kết quả vào lịch sử cá nhân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160520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4059936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Khách chỉ xem nhanh kết quả theo đúng phân quyền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1554480"/>
            <a:ext cx="2834640" cy="420624"/>
          </a:xfrm>
          <a:prstGeom prst="roundRect">
            <a:avLst/>
          </a:prstGeom>
          <a:solidFill>
            <a:srgbClr val="6D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32520" y="1664208"/>
            <a:ext cx="2651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ẢNH MINH HỌA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2057400"/>
            <a:ext cx="2834640" cy="4069080"/>
          </a:xfrm>
          <a:prstGeom prst="roundRect">
            <a:avLst/>
          </a:prstGeom>
          <a:solidFill>
            <a:srgbClr val="FAFDFF"/>
          </a:solidFill>
          <a:ln>
            <a:solidFill>
              <a:srgbClr val="B6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86800" y="2103120"/>
            <a:ext cx="27432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9E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48840"/>
            <a:ext cx="2651760" cy="38862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1018520" y="6565392"/>
            <a:ext cx="914400" cy="21945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172741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1051560"/>
          </a:xfrm>
          <a:prstGeom prst="rect">
            <a:avLst/>
          </a:prstGeom>
          <a:solidFill>
            <a:srgbClr val="00D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754880" cy="201168"/>
          </a:xfrm>
          <a:prstGeom prst="rect">
            <a:avLst/>
          </a:prstGeom>
          <a:solidFill>
            <a:srgbClr val="27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4880" y="914400"/>
            <a:ext cx="3200400" cy="201168"/>
          </a:xfrm>
          <a:prstGeom prst="rect">
            <a:avLst/>
          </a:prstGeom>
          <a:solidFill>
            <a:srgbClr val="9C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0" y="-411480"/>
            <a:ext cx="2926080" cy="2926080"/>
          </a:xfrm>
          <a:prstGeom prst="ellipse">
            <a:avLst/>
          </a:prstGeom>
          <a:solidFill>
            <a:srgbClr val="27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0" y="-320040"/>
            <a:ext cx="2194560" cy="2194560"/>
          </a:xfrm>
          <a:prstGeom prst="ellipse">
            <a:avLst/>
          </a:prstGeom>
          <a:solidFill>
            <a:srgbClr val="9C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5-Point Star 8"/>
          <p:cNvSpPr/>
          <p:nvPr/>
        </p:nvSpPr>
        <p:spPr>
          <a:xfrm>
            <a:off x="9646920" y="137160"/>
            <a:ext cx="320040" cy="320040"/>
          </a:xfrm>
          <a:prstGeom prst="star5">
            <a:avLst/>
          </a:prstGeom>
          <a:solidFill>
            <a:srgbClr val="27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5-Point Star 9"/>
          <p:cNvSpPr/>
          <p:nvPr/>
        </p:nvSpPr>
        <p:spPr>
          <a:xfrm>
            <a:off x="10058400" y="530352"/>
            <a:ext cx="201168" cy="201168"/>
          </a:xfrm>
          <a:prstGeom prst="star5">
            <a:avLst/>
          </a:prstGeom>
          <a:solidFill>
            <a:srgbClr val="9C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"/>
            <a:ext cx="9418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MỤC TIÊU VÀ ĐÓNG GÓP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26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DCEAFF"/>
                </a:solidFill>
                <a:latin typeface="Calibri"/>
              </a:defRPr>
            </a:pPr>
            <a:r>
              <a:t>Định hướng kỹ thuật của đề tài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82880"/>
            <a:ext cx="1828800" cy="384048"/>
          </a:xfrm>
          <a:prstGeom prst="roundRect">
            <a:avLst/>
          </a:prstGeom>
          <a:solidFill>
            <a:srgbClr val="27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30968" y="24688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NỘI DUNG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1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1298448"/>
            <a:ext cx="7726679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CD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6072" y="1371600"/>
            <a:ext cx="7580375" cy="4928616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0" y="1298448"/>
            <a:ext cx="3291840" cy="5074920"/>
          </a:xfrm>
          <a:prstGeom prst="roundRect">
            <a:avLst/>
          </a:prstGeom>
          <a:solidFill>
            <a:srgbClr val="E9F3FF"/>
          </a:solidFill>
          <a:ln>
            <a:solidFill>
              <a:srgbClr val="B9C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67344" y="1353312"/>
            <a:ext cx="3182112" cy="4965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1746504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1645920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Xây dựng mô hình học sâu cho nhận diện chó mèo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2551176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2450592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Phát triển web có xác thực và phân quyền rõ ràng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3355848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3255264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Lưu trữ dữ liệu người dùng và lịch sử bằng SQL Server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160520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4059936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Đảm bảo hệ thống có thể chạy thật và trình diễn trực tiếp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1554480"/>
            <a:ext cx="2834640" cy="420624"/>
          </a:xfrm>
          <a:prstGeom prst="roundRect">
            <a:avLst/>
          </a:prstGeom>
          <a:solidFill>
            <a:srgbClr val="6D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32520" y="1664208"/>
            <a:ext cx="2651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ẢNH MINH HỌA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2057400"/>
            <a:ext cx="2834640" cy="4069080"/>
          </a:xfrm>
          <a:prstGeom prst="roundRect">
            <a:avLst/>
          </a:prstGeom>
          <a:solidFill>
            <a:srgbClr val="FAFDFF"/>
          </a:solidFill>
          <a:ln>
            <a:solidFill>
              <a:srgbClr val="B6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86800" y="2103120"/>
            <a:ext cx="27432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9E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3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48840"/>
            <a:ext cx="2651760" cy="38862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1018520" y="6565392"/>
            <a:ext cx="914400" cy="21945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172741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1051560"/>
          </a:xfrm>
          <a:prstGeom prst="rect">
            <a:avLst/>
          </a:prstGeom>
          <a:solidFill>
            <a:srgbClr val="FF7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754880" cy="201168"/>
          </a:xfrm>
          <a:prstGeom prst="rect">
            <a:avLst/>
          </a:prstGeom>
          <a:solidFill>
            <a:srgbClr val="BE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4880" y="914400"/>
            <a:ext cx="3200400" cy="201168"/>
          </a:xfrm>
          <a:prstGeom prst="rect">
            <a:avLst/>
          </a:prstGeom>
          <a:solidFill>
            <a:srgbClr val="4D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0" y="-411480"/>
            <a:ext cx="2926080" cy="2926080"/>
          </a:xfrm>
          <a:prstGeom prst="ellipse">
            <a:avLst/>
          </a:prstGeom>
          <a:solidFill>
            <a:srgbClr val="BE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0" y="-320040"/>
            <a:ext cx="2194560" cy="2194560"/>
          </a:xfrm>
          <a:prstGeom prst="ellipse">
            <a:avLst/>
          </a:prstGeom>
          <a:solidFill>
            <a:srgbClr val="4D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5-Point Star 8"/>
          <p:cNvSpPr/>
          <p:nvPr/>
        </p:nvSpPr>
        <p:spPr>
          <a:xfrm>
            <a:off x="9646920" y="137160"/>
            <a:ext cx="320040" cy="320040"/>
          </a:xfrm>
          <a:prstGeom prst="star5">
            <a:avLst/>
          </a:prstGeom>
          <a:solidFill>
            <a:srgbClr val="BE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5-Point Star 9"/>
          <p:cNvSpPr/>
          <p:nvPr/>
        </p:nvSpPr>
        <p:spPr>
          <a:xfrm>
            <a:off x="10058400" y="530352"/>
            <a:ext cx="201168" cy="201168"/>
          </a:xfrm>
          <a:prstGeom prst="star5">
            <a:avLst/>
          </a:prstGeom>
          <a:solidFill>
            <a:srgbClr val="4D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"/>
            <a:ext cx="9418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KIẾN TRÚC MÃ NGUỒN 5 LỚP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26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DCEAFF"/>
                </a:solidFill>
                <a:latin typeface="Calibri"/>
              </a:defRPr>
            </a:pPr>
            <a:r>
              <a:t>Thiết kế phân lớp rõ trách nhiệm để dễ bảo trì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82880"/>
            <a:ext cx="1828800" cy="384048"/>
          </a:xfrm>
          <a:prstGeom prst="roundRect">
            <a:avLst/>
          </a:prstGeom>
          <a:solidFill>
            <a:srgbClr val="BE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30968" y="24688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KIẾN TRÚC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1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1298448"/>
            <a:ext cx="1115568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CD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68680" y="1609344"/>
            <a:ext cx="10424160" cy="822960"/>
          </a:xfrm>
          <a:prstGeom prst="roundRect">
            <a:avLst/>
          </a:prstGeom>
          <a:solidFill>
            <a:srgbClr val="EAF4FF"/>
          </a:solidFill>
          <a:ln>
            <a:solidFill>
              <a:srgbClr val="B5C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24128" y="1755648"/>
            <a:ext cx="530352" cy="530352"/>
          </a:xfrm>
          <a:prstGeom prst="ellipse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8720" y="1883664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1682496"/>
            <a:ext cx="9326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 i="0">
                <a:solidFill>
                  <a:srgbClr val="172741"/>
                </a:solidFill>
                <a:latin typeface="Calibri"/>
              </a:defRPr>
            </a:pPr>
            <a:r>
              <a:t>Lớp 1: cau_hinh.py</a:t>
            </a:r>
          </a:p>
          <a:p>
            <a:pPr>
              <a:defRPr sz="1300" b="0" i="0">
                <a:solidFill>
                  <a:srgbClr val="374962"/>
                </a:solidFill>
                <a:latin typeface="Calibri"/>
              </a:defRPr>
            </a:pPr>
            <a:r>
              <a:t>Quản lý hằng số, thư mục, cấu hình kết nối SQL Server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852160" y="2432304"/>
            <a:ext cx="411480" cy="201168"/>
          </a:xfrm>
          <a:prstGeom prst="downArrow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68680" y="2523744"/>
            <a:ext cx="10424160" cy="822960"/>
          </a:xfrm>
          <a:prstGeom prst="roundRect">
            <a:avLst/>
          </a:prstGeom>
          <a:solidFill>
            <a:srgbClr val="ECFBF6"/>
          </a:solidFill>
          <a:ln>
            <a:solidFill>
              <a:srgbClr val="B5C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24128" y="2670048"/>
            <a:ext cx="530352" cy="530352"/>
          </a:xfrm>
          <a:prstGeom prst="ellipse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88720" y="2798063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2596896"/>
            <a:ext cx="9326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 i="0">
                <a:solidFill>
                  <a:srgbClr val="172741"/>
                </a:solidFill>
                <a:latin typeface="Calibri"/>
              </a:defRPr>
            </a:pPr>
            <a:r>
              <a:t>Lớp 2: phan_quyen.py</a:t>
            </a:r>
          </a:p>
          <a:p>
            <a:pPr>
              <a:defRPr sz="1300" b="0" i="0">
                <a:solidFill>
                  <a:srgbClr val="374962"/>
                </a:solidFill>
                <a:latin typeface="Calibri"/>
              </a:defRPr>
            </a:pPr>
            <a:r>
              <a:t>Kiểm tra quyền theo vai trò: khách, người dùng, quản trị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852160" y="3346703"/>
            <a:ext cx="411480" cy="201168"/>
          </a:xfrm>
          <a:prstGeom prst="downArrow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68680" y="3438144"/>
            <a:ext cx="10424160" cy="822960"/>
          </a:xfrm>
          <a:prstGeom prst="roundRect">
            <a:avLst/>
          </a:prstGeom>
          <a:solidFill>
            <a:srgbClr val="F1F3FF"/>
          </a:solidFill>
          <a:ln>
            <a:solidFill>
              <a:srgbClr val="B5C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24128" y="3584448"/>
            <a:ext cx="530352" cy="530352"/>
          </a:xfrm>
          <a:prstGeom prst="ellipse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88720" y="3712463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3511296"/>
            <a:ext cx="9326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 i="0">
                <a:solidFill>
                  <a:srgbClr val="172741"/>
                </a:solidFill>
                <a:latin typeface="Calibri"/>
              </a:defRPr>
            </a:pPr>
            <a:r>
              <a:t>Lớp 3: co_so_du_lieu.py</a:t>
            </a:r>
          </a:p>
          <a:p>
            <a:pPr>
              <a:defRPr sz="1300" b="0" i="0">
                <a:solidFill>
                  <a:srgbClr val="374962"/>
                </a:solidFill>
                <a:latin typeface="Calibri"/>
              </a:defRPr>
            </a:pPr>
            <a:r>
              <a:t>Truy vấn SQL Server: người dùng, lịch sử, cập nhật dữ liệu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5852160" y="4261104"/>
            <a:ext cx="411480" cy="201168"/>
          </a:xfrm>
          <a:prstGeom prst="downArrow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68680" y="4352544"/>
            <a:ext cx="10424160" cy="822960"/>
          </a:xfrm>
          <a:prstGeom prst="roundRect">
            <a:avLst/>
          </a:prstGeom>
          <a:solidFill>
            <a:srgbClr val="EDF6FF"/>
          </a:solidFill>
          <a:ln>
            <a:solidFill>
              <a:srgbClr val="B5C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24128" y="4498848"/>
            <a:ext cx="530352" cy="530352"/>
          </a:xfrm>
          <a:prstGeom prst="ellipse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88720" y="4626864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1640" y="4425696"/>
            <a:ext cx="9326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 i="0">
                <a:solidFill>
                  <a:srgbClr val="172741"/>
                </a:solidFill>
                <a:latin typeface="Calibri"/>
              </a:defRPr>
            </a:pPr>
            <a:r>
              <a:t>Lớp 4: mo_hinh_cnn.py</a:t>
            </a:r>
          </a:p>
          <a:p>
            <a:pPr>
              <a:defRPr sz="1300" b="0" i="0">
                <a:solidFill>
                  <a:srgbClr val="374962"/>
                </a:solidFill>
                <a:latin typeface="Calibri"/>
              </a:defRPr>
            </a:pPr>
            <a:r>
              <a:t>Nạp mô hình, xử lý ảnh đầu vào, suy luận kết quả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5852160" y="5175504"/>
            <a:ext cx="411480" cy="201168"/>
          </a:xfrm>
          <a:prstGeom prst="downArrow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68680" y="5266944"/>
            <a:ext cx="10424160" cy="822960"/>
          </a:xfrm>
          <a:prstGeom prst="roundRect">
            <a:avLst/>
          </a:prstGeom>
          <a:solidFill>
            <a:srgbClr val="ECFAF6"/>
          </a:solidFill>
          <a:ln>
            <a:solidFill>
              <a:srgbClr val="B5C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24128" y="5413248"/>
            <a:ext cx="530352" cy="530352"/>
          </a:xfrm>
          <a:prstGeom prst="ellipse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88720" y="5541264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91640" y="5340096"/>
            <a:ext cx="9326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 i="0">
                <a:solidFill>
                  <a:srgbClr val="172741"/>
                </a:solidFill>
                <a:latin typeface="Calibri"/>
              </a:defRPr>
            </a:pPr>
            <a:r>
              <a:t>Lớp 5: ung_dung.py</a:t>
            </a:r>
          </a:p>
          <a:p>
            <a:pPr>
              <a:defRPr sz="1300" b="0" i="0">
                <a:solidFill>
                  <a:srgbClr val="374962"/>
                </a:solidFill>
                <a:latin typeface="Calibri"/>
              </a:defRPr>
            </a:pPr>
            <a:r>
              <a:t>Điều phối giao diện web, tuyến xử lý và phiên đăng nhập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018520" y="6565392"/>
            <a:ext cx="914400" cy="21945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172741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1051560"/>
          </a:xfrm>
          <a:prstGeom prst="rect">
            <a:avLst/>
          </a:prstGeom>
          <a:solidFill>
            <a:srgbClr val="81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754880" cy="201168"/>
          </a:xfrm>
          <a:prstGeom prst="rect">
            <a:avLst/>
          </a:prstGeom>
          <a:solidFill>
            <a:srgbClr val="FF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4880" y="914400"/>
            <a:ext cx="3200400" cy="2011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0" y="-411480"/>
            <a:ext cx="2926080" cy="2926080"/>
          </a:xfrm>
          <a:prstGeom prst="ellipse">
            <a:avLst/>
          </a:prstGeom>
          <a:solidFill>
            <a:srgbClr val="FF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0" y="-320040"/>
            <a:ext cx="2194560" cy="219456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5-Point Star 8"/>
          <p:cNvSpPr/>
          <p:nvPr/>
        </p:nvSpPr>
        <p:spPr>
          <a:xfrm>
            <a:off x="9646920" y="137160"/>
            <a:ext cx="320040" cy="320040"/>
          </a:xfrm>
          <a:prstGeom prst="star5">
            <a:avLst/>
          </a:prstGeom>
          <a:solidFill>
            <a:srgbClr val="FF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5-Point Star 9"/>
          <p:cNvSpPr/>
          <p:nvPr/>
        </p:nvSpPr>
        <p:spPr>
          <a:xfrm>
            <a:off x="10058400" y="530352"/>
            <a:ext cx="201168" cy="201168"/>
          </a:xfrm>
          <a:prstGeom prst="star5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"/>
            <a:ext cx="9418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PHÂN QUYỀN NGHIỆP VỤ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26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DCEAFF"/>
                </a:solidFill>
                <a:latin typeface="Calibri"/>
              </a:defRPr>
            </a:pPr>
            <a:r>
              <a:t>Kiểm soát truy cập đúng vai trò theo yêu cầu đề tài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82880"/>
            <a:ext cx="1828800" cy="384048"/>
          </a:xfrm>
          <a:prstGeom prst="roundRect">
            <a:avLst/>
          </a:prstGeom>
          <a:solidFill>
            <a:srgbClr val="FF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30968" y="24688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PHÂN QUYỀN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1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1298448"/>
            <a:ext cx="1115568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CD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68680" y="1600200"/>
            <a:ext cx="3657600" cy="512064"/>
          </a:xfrm>
          <a:prstGeom prst="round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1746504"/>
            <a:ext cx="3520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Chức năng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1600200"/>
            <a:ext cx="2011680" cy="512064"/>
          </a:xfrm>
          <a:prstGeom prst="round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90872" y="1746504"/>
            <a:ext cx="1874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Khách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1600200"/>
            <a:ext cx="2103120" cy="512064"/>
          </a:xfrm>
          <a:prstGeom prst="round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93992" y="1746504"/>
            <a:ext cx="19659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Người dùng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600200"/>
            <a:ext cx="2286000" cy="512064"/>
          </a:xfrm>
          <a:prstGeom prst="round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88552" y="1746504"/>
            <a:ext cx="2148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Quản trị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2240280"/>
            <a:ext cx="10287000" cy="512064"/>
          </a:xfrm>
          <a:prstGeom prst="roundRect">
            <a:avLst/>
          </a:prstGeom>
          <a:solidFill>
            <a:srgbClr val="F8FCFF"/>
          </a:solidFill>
          <a:ln>
            <a:solidFill>
              <a:srgbClr val="DEE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" y="2386584"/>
            <a:ext cx="35112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 i="0">
                <a:solidFill>
                  <a:srgbClr val="213149"/>
                </a:solidFill>
                <a:latin typeface="Calibri"/>
              </a:defRPr>
            </a:pPr>
            <a:r>
              <a:t>Xem trang web, giới thiệu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0872" y="2386584"/>
            <a:ext cx="186537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16A8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3992" y="2386584"/>
            <a:ext cx="195681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16A8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88552" y="2386584"/>
            <a:ext cx="21396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16A8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2807208"/>
            <a:ext cx="10287000" cy="512064"/>
          </a:xfrm>
          <a:prstGeom prst="roundRect">
            <a:avLst/>
          </a:prstGeom>
          <a:solidFill>
            <a:srgbClr val="EFF6FF"/>
          </a:solidFill>
          <a:ln>
            <a:solidFill>
              <a:srgbClr val="DEE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1832" y="2953512"/>
            <a:ext cx="35112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 i="0">
                <a:solidFill>
                  <a:srgbClr val="213149"/>
                </a:solidFill>
                <a:latin typeface="Calibri"/>
              </a:defRPr>
            </a:pPr>
            <a:r>
              <a:t>Tải ảnh và xem kết quả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0872" y="2953512"/>
            <a:ext cx="186537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16A8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93992" y="2953512"/>
            <a:ext cx="195681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16A8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88552" y="2953512"/>
            <a:ext cx="21396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E3464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3374136"/>
            <a:ext cx="10287000" cy="512064"/>
          </a:xfrm>
          <a:prstGeom prst="roundRect">
            <a:avLst/>
          </a:prstGeom>
          <a:solidFill>
            <a:srgbClr val="F8FCFF"/>
          </a:solidFill>
          <a:ln>
            <a:solidFill>
              <a:srgbClr val="DEE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1832" y="3520440"/>
            <a:ext cx="35112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 i="0">
                <a:solidFill>
                  <a:srgbClr val="213149"/>
                </a:solidFill>
                <a:latin typeface="Calibri"/>
              </a:defRPr>
            </a:pPr>
            <a:r>
              <a:t>Lưu, tải, xóa lịch sử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90872" y="3520440"/>
            <a:ext cx="186537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E3464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93992" y="3520440"/>
            <a:ext cx="195681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16A8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2" y="3520440"/>
            <a:ext cx="21396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E3464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" y="3941064"/>
            <a:ext cx="10287000" cy="512064"/>
          </a:xfrm>
          <a:prstGeom prst="roundRect">
            <a:avLst/>
          </a:prstGeom>
          <a:solidFill>
            <a:srgbClr val="EFF6FF"/>
          </a:solidFill>
          <a:ln>
            <a:solidFill>
              <a:srgbClr val="DEE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1832" y="4087368"/>
            <a:ext cx="35112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 i="0">
                <a:solidFill>
                  <a:srgbClr val="213149"/>
                </a:solidFill>
                <a:latin typeface="Calibri"/>
              </a:defRPr>
            </a:pPr>
            <a:r>
              <a:t>Đăng ký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90872" y="4087368"/>
            <a:ext cx="186537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16A8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93992" y="4087368"/>
            <a:ext cx="195681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E3464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88552" y="4087368"/>
            <a:ext cx="21396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E3464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" y="4507992"/>
            <a:ext cx="10287000" cy="512064"/>
          </a:xfrm>
          <a:prstGeom prst="roundRect">
            <a:avLst/>
          </a:prstGeom>
          <a:solidFill>
            <a:srgbClr val="F8FCFF"/>
          </a:solidFill>
          <a:ln>
            <a:solidFill>
              <a:srgbClr val="DEE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41832" y="4654296"/>
            <a:ext cx="35112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 i="0">
                <a:solidFill>
                  <a:srgbClr val="213149"/>
                </a:solidFill>
                <a:latin typeface="Calibri"/>
              </a:defRPr>
            </a:pPr>
            <a:r>
              <a:t>Đăng nhập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90872" y="4654296"/>
            <a:ext cx="186537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16A8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93992" y="4654296"/>
            <a:ext cx="195681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16A8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88552" y="4654296"/>
            <a:ext cx="21396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16A8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8680" y="5074920"/>
            <a:ext cx="10287000" cy="512064"/>
          </a:xfrm>
          <a:prstGeom prst="roundRect">
            <a:avLst/>
          </a:prstGeom>
          <a:solidFill>
            <a:srgbClr val="EFF6FF"/>
          </a:solidFill>
          <a:ln>
            <a:solidFill>
              <a:srgbClr val="DEE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41832" y="5221224"/>
            <a:ext cx="35112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 i="0">
                <a:solidFill>
                  <a:srgbClr val="213149"/>
                </a:solidFill>
                <a:latin typeface="Calibri"/>
              </a:defRPr>
            </a:pPr>
            <a:r>
              <a:t>Đăng xuất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90872" y="5221224"/>
            <a:ext cx="186537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E3464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93992" y="5221224"/>
            <a:ext cx="195681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16A8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88552" y="5221224"/>
            <a:ext cx="21396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16A8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8680" y="5641848"/>
            <a:ext cx="10287000" cy="512064"/>
          </a:xfrm>
          <a:prstGeom prst="roundRect">
            <a:avLst/>
          </a:prstGeom>
          <a:solidFill>
            <a:srgbClr val="F8FCFF"/>
          </a:solidFill>
          <a:ln>
            <a:solidFill>
              <a:srgbClr val="DEE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41832" y="5788152"/>
            <a:ext cx="35112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 i="0">
                <a:solidFill>
                  <a:srgbClr val="213149"/>
                </a:solidFill>
                <a:latin typeface="Calibri"/>
              </a:defRPr>
            </a:pPr>
            <a:r>
              <a:t>Cập nhật thông tin, đổi mật khẩu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5788152"/>
            <a:ext cx="186537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E3464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93992" y="5788152"/>
            <a:ext cx="195681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16A8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88552" y="5788152"/>
            <a:ext cx="21396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E3464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018520" y="6565392"/>
            <a:ext cx="914400" cy="21945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172741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1051560"/>
          </a:xfrm>
          <a:prstGeom prst="rect">
            <a:avLst/>
          </a:prstGeom>
          <a:solidFill>
            <a:srgbClr val="FF4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754880" cy="20116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4880" y="914400"/>
            <a:ext cx="3200400" cy="201168"/>
          </a:xfrm>
          <a:prstGeom prst="rect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0" y="-411480"/>
            <a:ext cx="2926080" cy="29260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0" y="-320040"/>
            <a:ext cx="2194560" cy="2194560"/>
          </a:xfrm>
          <a:prstGeom prst="ellipse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5-Point Star 8"/>
          <p:cNvSpPr/>
          <p:nvPr/>
        </p:nvSpPr>
        <p:spPr>
          <a:xfrm>
            <a:off x="9646920" y="137160"/>
            <a:ext cx="320040" cy="320040"/>
          </a:xfrm>
          <a:prstGeom prst="star5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5-Point Star 9"/>
          <p:cNvSpPr/>
          <p:nvPr/>
        </p:nvSpPr>
        <p:spPr>
          <a:xfrm>
            <a:off x="10058400" y="530352"/>
            <a:ext cx="201168" cy="201168"/>
          </a:xfrm>
          <a:prstGeom prst="star5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"/>
            <a:ext cx="9418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CƠ SỞ LÝ THUYẾT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26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DCEAFF"/>
                </a:solidFill>
                <a:latin typeface="Calibri"/>
              </a:defRPr>
            </a:pPr>
            <a:r>
              <a:t>Nền tảng của mạng nơ-ron tích chập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82880"/>
            <a:ext cx="1828800" cy="384048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30968" y="24688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NỘI DUNG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1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1298448"/>
            <a:ext cx="7726679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CD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6072" y="1371600"/>
            <a:ext cx="7580375" cy="4928616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0" y="1298448"/>
            <a:ext cx="3291840" cy="5074920"/>
          </a:xfrm>
          <a:prstGeom prst="roundRect">
            <a:avLst/>
          </a:prstGeom>
          <a:solidFill>
            <a:srgbClr val="E9F3FF"/>
          </a:solidFill>
          <a:ln>
            <a:solidFill>
              <a:srgbClr val="B9C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67344" y="1353312"/>
            <a:ext cx="3182112" cy="4965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1746504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1645920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Lớp tích chập dùng bộ lọc để trích xuất đặc trưng ảnh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2551176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2450592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Hàm kích hoạt giúp mô hình học được quan hệ phi tuyến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3355848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3255264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Lớp gộp giảm kích thước dữ liệu và chống nhiễu vị trí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160520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4059936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Lớp kết nối đầy đủ thực hiện quyết định phân loại cuối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1554480"/>
            <a:ext cx="2834640" cy="420624"/>
          </a:xfrm>
          <a:prstGeom prst="roundRect">
            <a:avLst/>
          </a:prstGeom>
          <a:solidFill>
            <a:srgbClr val="6D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32520" y="1664208"/>
            <a:ext cx="2651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ẢNH MINH HỌA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2057400"/>
            <a:ext cx="2834640" cy="4069080"/>
          </a:xfrm>
          <a:prstGeom prst="roundRect">
            <a:avLst/>
          </a:prstGeom>
          <a:solidFill>
            <a:srgbClr val="FAFDFF"/>
          </a:solidFill>
          <a:ln>
            <a:solidFill>
              <a:srgbClr val="B6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86800" y="2103120"/>
            <a:ext cx="27432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9E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3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48840"/>
            <a:ext cx="2651760" cy="38862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1018520" y="6565392"/>
            <a:ext cx="914400" cy="21945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172741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1051560"/>
          </a:xfrm>
          <a:prstGeom prst="rect">
            <a:avLst/>
          </a:prstGeom>
          <a:solidFill>
            <a:srgbClr val="00D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754880" cy="201168"/>
          </a:xfrm>
          <a:prstGeom prst="rect">
            <a:avLst/>
          </a:prstGeom>
          <a:solidFill>
            <a:srgbClr val="27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4880" y="914400"/>
            <a:ext cx="3200400" cy="201168"/>
          </a:xfrm>
          <a:prstGeom prst="rect">
            <a:avLst/>
          </a:prstGeom>
          <a:solidFill>
            <a:srgbClr val="9C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0" y="-411480"/>
            <a:ext cx="2926080" cy="2926080"/>
          </a:xfrm>
          <a:prstGeom prst="ellipse">
            <a:avLst/>
          </a:prstGeom>
          <a:solidFill>
            <a:srgbClr val="27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0" y="-320040"/>
            <a:ext cx="2194560" cy="2194560"/>
          </a:xfrm>
          <a:prstGeom prst="ellipse">
            <a:avLst/>
          </a:prstGeom>
          <a:solidFill>
            <a:srgbClr val="9C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5-Point Star 8"/>
          <p:cNvSpPr/>
          <p:nvPr/>
        </p:nvSpPr>
        <p:spPr>
          <a:xfrm>
            <a:off x="9646920" y="137160"/>
            <a:ext cx="320040" cy="320040"/>
          </a:xfrm>
          <a:prstGeom prst="star5">
            <a:avLst/>
          </a:prstGeom>
          <a:solidFill>
            <a:srgbClr val="27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5-Point Star 9"/>
          <p:cNvSpPr/>
          <p:nvPr/>
        </p:nvSpPr>
        <p:spPr>
          <a:xfrm>
            <a:off x="10058400" y="530352"/>
            <a:ext cx="201168" cy="201168"/>
          </a:xfrm>
          <a:prstGeom prst="star5">
            <a:avLst/>
          </a:prstGeom>
          <a:solidFill>
            <a:srgbClr val="9C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"/>
            <a:ext cx="9418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HỌC CHUYỂN GIAO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26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DCEAFF"/>
                </a:solidFill>
                <a:latin typeface="Calibri"/>
              </a:defRPr>
            </a:pPr>
            <a:r>
              <a:t>Khai thác tri thức từ mô hình đã huấn luyện lớn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82880"/>
            <a:ext cx="1828800" cy="384048"/>
          </a:xfrm>
          <a:prstGeom prst="roundRect">
            <a:avLst/>
          </a:prstGeom>
          <a:solidFill>
            <a:srgbClr val="27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30968" y="24688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NỘI DUNG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1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1298448"/>
            <a:ext cx="7726679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CD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6072" y="1371600"/>
            <a:ext cx="7580375" cy="4928616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0" y="1298448"/>
            <a:ext cx="3291840" cy="5074920"/>
          </a:xfrm>
          <a:prstGeom prst="roundRect">
            <a:avLst/>
          </a:prstGeom>
          <a:solidFill>
            <a:srgbClr val="E9F3FF"/>
          </a:solidFill>
          <a:ln>
            <a:solidFill>
              <a:srgbClr val="B9C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67344" y="1353312"/>
            <a:ext cx="3182112" cy="4965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1746504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1645920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Dùng MobileNetV2 đã học từ tập ảnh quy mô lớn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2551176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2450592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Đóng băng phần trích xuất đặc trưng để giảm thời gian huấn luyện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3355848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3255264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Huấn luyện phần phân loại phía sau để phù hợp dữ liệu đề tài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160520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4059936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Hiệu quả cao hơn khi dữ liệu tại chỗ còn hạn chế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1554480"/>
            <a:ext cx="2834640" cy="420624"/>
          </a:xfrm>
          <a:prstGeom prst="roundRect">
            <a:avLst/>
          </a:prstGeom>
          <a:solidFill>
            <a:srgbClr val="6D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32520" y="1664208"/>
            <a:ext cx="2651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ẢNH MINH HỌA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2057400"/>
            <a:ext cx="2834640" cy="4069080"/>
          </a:xfrm>
          <a:prstGeom prst="roundRect">
            <a:avLst/>
          </a:prstGeom>
          <a:solidFill>
            <a:srgbClr val="FAFDFF"/>
          </a:solidFill>
          <a:ln>
            <a:solidFill>
              <a:srgbClr val="B6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86800" y="2103120"/>
            <a:ext cx="27432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9E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4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48840"/>
            <a:ext cx="2651760" cy="38862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1018520" y="6565392"/>
            <a:ext cx="914400" cy="21945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172741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1051560"/>
          </a:xfrm>
          <a:prstGeom prst="rect">
            <a:avLst/>
          </a:prstGeom>
          <a:solidFill>
            <a:srgbClr val="FF7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754880" cy="201168"/>
          </a:xfrm>
          <a:prstGeom prst="rect">
            <a:avLst/>
          </a:prstGeom>
          <a:solidFill>
            <a:srgbClr val="BE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4880" y="914400"/>
            <a:ext cx="3200400" cy="201168"/>
          </a:xfrm>
          <a:prstGeom prst="rect">
            <a:avLst/>
          </a:prstGeom>
          <a:solidFill>
            <a:srgbClr val="4D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0" y="-411480"/>
            <a:ext cx="2926080" cy="2926080"/>
          </a:xfrm>
          <a:prstGeom prst="ellipse">
            <a:avLst/>
          </a:prstGeom>
          <a:solidFill>
            <a:srgbClr val="BE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0" y="-320040"/>
            <a:ext cx="2194560" cy="2194560"/>
          </a:xfrm>
          <a:prstGeom prst="ellipse">
            <a:avLst/>
          </a:prstGeom>
          <a:solidFill>
            <a:srgbClr val="4D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5-Point Star 8"/>
          <p:cNvSpPr/>
          <p:nvPr/>
        </p:nvSpPr>
        <p:spPr>
          <a:xfrm>
            <a:off x="9646920" y="137160"/>
            <a:ext cx="320040" cy="320040"/>
          </a:xfrm>
          <a:prstGeom prst="star5">
            <a:avLst/>
          </a:prstGeom>
          <a:solidFill>
            <a:srgbClr val="BE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5-Point Star 9"/>
          <p:cNvSpPr/>
          <p:nvPr/>
        </p:nvSpPr>
        <p:spPr>
          <a:xfrm>
            <a:off x="10058400" y="530352"/>
            <a:ext cx="201168" cy="201168"/>
          </a:xfrm>
          <a:prstGeom prst="star5">
            <a:avLst/>
          </a:prstGeom>
          <a:solidFill>
            <a:srgbClr val="4D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"/>
            <a:ext cx="9418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MÔ TẢ DỮ LIỆU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26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DCEAFF"/>
                </a:solidFill>
                <a:latin typeface="Calibri"/>
              </a:defRPr>
            </a:pPr>
            <a:r>
              <a:t>Nguồn và quy mô dữ liệu của đề tài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82880"/>
            <a:ext cx="1828800" cy="384048"/>
          </a:xfrm>
          <a:prstGeom prst="roundRect">
            <a:avLst/>
          </a:prstGeom>
          <a:solidFill>
            <a:srgbClr val="BE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30968" y="24688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NỘI DUNG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1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1298448"/>
            <a:ext cx="7726679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CD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6072" y="1371600"/>
            <a:ext cx="7580375" cy="4928616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0" y="1298448"/>
            <a:ext cx="3291840" cy="5074920"/>
          </a:xfrm>
          <a:prstGeom prst="roundRect">
            <a:avLst/>
          </a:prstGeom>
          <a:solidFill>
            <a:srgbClr val="E9F3FF"/>
          </a:solidFill>
          <a:ln>
            <a:solidFill>
              <a:srgbClr val="B9C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67344" y="1353312"/>
            <a:ext cx="3182112" cy="4965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1746504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1645920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Nguồn chính từ bộ Dogs vs Cats và ảnh bổ sung thủ công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2551176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2450592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Dữ liệu sau làm sạch có khoảng hơn một trăm ảnh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3355848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3255264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Hai lớp chó và mèo được cân bằng xấp xỉ 50 trên 50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160520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4059936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Mỗi ảnh chuẩn hóa về kích thước 160 x 160 x 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1554480"/>
            <a:ext cx="2834640" cy="420624"/>
          </a:xfrm>
          <a:prstGeom prst="roundRect">
            <a:avLst/>
          </a:prstGeom>
          <a:solidFill>
            <a:srgbClr val="6D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32520" y="1664208"/>
            <a:ext cx="2651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ẢNH MINH HỌA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2057400"/>
            <a:ext cx="2834640" cy="4069080"/>
          </a:xfrm>
          <a:prstGeom prst="roundRect">
            <a:avLst/>
          </a:prstGeom>
          <a:solidFill>
            <a:srgbClr val="FAFDFF"/>
          </a:solidFill>
          <a:ln>
            <a:solidFill>
              <a:srgbClr val="B6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86800" y="2103120"/>
            <a:ext cx="27432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9E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4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48840"/>
            <a:ext cx="2651760" cy="38862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1018520" y="6565392"/>
            <a:ext cx="914400" cy="21945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172741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1051560"/>
          </a:xfrm>
          <a:prstGeom prst="rect">
            <a:avLst/>
          </a:prstGeom>
          <a:solidFill>
            <a:srgbClr val="81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754880" cy="201168"/>
          </a:xfrm>
          <a:prstGeom prst="rect">
            <a:avLst/>
          </a:prstGeom>
          <a:solidFill>
            <a:srgbClr val="FF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4880" y="914400"/>
            <a:ext cx="3200400" cy="2011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0" y="-411480"/>
            <a:ext cx="2926080" cy="2926080"/>
          </a:xfrm>
          <a:prstGeom prst="ellipse">
            <a:avLst/>
          </a:prstGeom>
          <a:solidFill>
            <a:srgbClr val="FF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0" y="-320040"/>
            <a:ext cx="2194560" cy="219456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5-Point Star 8"/>
          <p:cNvSpPr/>
          <p:nvPr/>
        </p:nvSpPr>
        <p:spPr>
          <a:xfrm>
            <a:off x="9646920" y="137160"/>
            <a:ext cx="320040" cy="320040"/>
          </a:xfrm>
          <a:prstGeom prst="star5">
            <a:avLst/>
          </a:prstGeom>
          <a:solidFill>
            <a:srgbClr val="FF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5-Point Star 9"/>
          <p:cNvSpPr/>
          <p:nvPr/>
        </p:nvSpPr>
        <p:spPr>
          <a:xfrm>
            <a:off x="10058400" y="530352"/>
            <a:ext cx="201168" cy="201168"/>
          </a:xfrm>
          <a:prstGeom prst="star5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"/>
            <a:ext cx="9418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TIỀN XỬ LÝ DỮ LIỆU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26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DCEAFF"/>
                </a:solidFill>
                <a:latin typeface="Calibri"/>
              </a:defRPr>
            </a:pPr>
            <a:r>
              <a:t>Làm sạch và chuẩn hóa trước huấn luyện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82880"/>
            <a:ext cx="1828800" cy="384048"/>
          </a:xfrm>
          <a:prstGeom prst="roundRect">
            <a:avLst/>
          </a:prstGeom>
          <a:solidFill>
            <a:srgbClr val="FF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30968" y="24688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NỘI DUNG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1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1298448"/>
            <a:ext cx="7726679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CD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6072" y="1371600"/>
            <a:ext cx="7580375" cy="4928616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0" y="1298448"/>
            <a:ext cx="3291840" cy="5074920"/>
          </a:xfrm>
          <a:prstGeom prst="roundRect">
            <a:avLst/>
          </a:prstGeom>
          <a:solidFill>
            <a:srgbClr val="E9F3FF"/>
          </a:solidFill>
          <a:ln>
            <a:solidFill>
              <a:srgbClr val="B9C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67344" y="1353312"/>
            <a:ext cx="3182112" cy="4965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1746504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1645920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Loại ảnh lỗi, ảnh mờ hoặc ảnh không đúng chuẩn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2551176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2450592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Đồng nhất hệ màu RGB cho toàn bộ dữ liệu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3355848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3255264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Chuẩn hóa điểm ảnh để tối ưu quá trình huấn luyện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160520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4059936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Giảm nguy cơ lệch lớp do mất cân bằng dữ liệu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1554480"/>
            <a:ext cx="2834640" cy="420624"/>
          </a:xfrm>
          <a:prstGeom prst="roundRect">
            <a:avLst/>
          </a:prstGeom>
          <a:solidFill>
            <a:srgbClr val="6D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32520" y="1664208"/>
            <a:ext cx="2651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ẢNH MINH HỌA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2057400"/>
            <a:ext cx="2834640" cy="4069080"/>
          </a:xfrm>
          <a:prstGeom prst="roundRect">
            <a:avLst/>
          </a:prstGeom>
          <a:solidFill>
            <a:srgbClr val="FAFDFF"/>
          </a:solidFill>
          <a:ln>
            <a:solidFill>
              <a:srgbClr val="B6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86800" y="2103120"/>
            <a:ext cx="27432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9E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z7634137933728_99a916240682501853537cf590c6f1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48840"/>
            <a:ext cx="2651760" cy="38862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1018520" y="6565392"/>
            <a:ext cx="914400" cy="21945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172741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1051560"/>
          </a:xfrm>
          <a:prstGeom prst="rect">
            <a:avLst/>
          </a:prstGeom>
          <a:solidFill>
            <a:srgbClr val="FF4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754880" cy="20116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4880" y="914400"/>
            <a:ext cx="3200400" cy="201168"/>
          </a:xfrm>
          <a:prstGeom prst="rect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0" y="-411480"/>
            <a:ext cx="2926080" cy="29260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0" y="-320040"/>
            <a:ext cx="2194560" cy="2194560"/>
          </a:xfrm>
          <a:prstGeom prst="ellipse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5-Point Star 8"/>
          <p:cNvSpPr/>
          <p:nvPr/>
        </p:nvSpPr>
        <p:spPr>
          <a:xfrm>
            <a:off x="9646920" y="137160"/>
            <a:ext cx="320040" cy="320040"/>
          </a:xfrm>
          <a:prstGeom prst="star5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5-Point Star 9"/>
          <p:cNvSpPr/>
          <p:nvPr/>
        </p:nvSpPr>
        <p:spPr>
          <a:xfrm>
            <a:off x="10058400" y="530352"/>
            <a:ext cx="201168" cy="201168"/>
          </a:xfrm>
          <a:prstGeom prst="star5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"/>
            <a:ext cx="9418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TĂNG CƯỜNG DỮ LIỆU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26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DCEAFF"/>
                </a:solidFill>
                <a:latin typeface="Calibri"/>
              </a:defRPr>
            </a:pPr>
            <a:r>
              <a:t>Mở rộng biến thể ảnh để giảm học vẹt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82880"/>
            <a:ext cx="1828800" cy="384048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30968" y="24688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NỘI DUNG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1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1298448"/>
            <a:ext cx="7726679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CD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6072" y="1371600"/>
            <a:ext cx="7580375" cy="4928616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0" y="1298448"/>
            <a:ext cx="3291840" cy="5074920"/>
          </a:xfrm>
          <a:prstGeom prst="roundRect">
            <a:avLst/>
          </a:prstGeom>
          <a:solidFill>
            <a:srgbClr val="E9F3FF"/>
          </a:solidFill>
          <a:ln>
            <a:solidFill>
              <a:srgbClr val="B9C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67344" y="1353312"/>
            <a:ext cx="3182112" cy="4965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1746504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1645920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Xoay ảnh khoảng 20 độ, dịch chuyển, phóng to và lật ngang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2551176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2450592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Sinh thêm biến thể trong lúc huấn luyện mà không cần ảnh mới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3355848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3255264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Tăng độ đa dạng góc nhìn của chó và mèo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160520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4059936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Giảm quá khớp và tăng khả năng tổng quát hóa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1554480"/>
            <a:ext cx="2834640" cy="420624"/>
          </a:xfrm>
          <a:prstGeom prst="roundRect">
            <a:avLst/>
          </a:prstGeom>
          <a:solidFill>
            <a:srgbClr val="6D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32520" y="1664208"/>
            <a:ext cx="2651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ẢNH MINH HỌA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2057400"/>
            <a:ext cx="2834640" cy="4069080"/>
          </a:xfrm>
          <a:prstGeom prst="roundRect">
            <a:avLst/>
          </a:prstGeom>
          <a:solidFill>
            <a:srgbClr val="FAFDFF"/>
          </a:solidFill>
          <a:ln>
            <a:solidFill>
              <a:srgbClr val="B6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86800" y="2103120"/>
            <a:ext cx="27432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9E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z7634137943415_fc26876b3eff88b34341e0f5571675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48840"/>
            <a:ext cx="2651760" cy="38862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1018520" y="6565392"/>
            <a:ext cx="914400" cy="21945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172741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1051560"/>
          </a:xfrm>
          <a:prstGeom prst="rect">
            <a:avLst/>
          </a:prstGeom>
          <a:solidFill>
            <a:srgbClr val="00D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754880" cy="201168"/>
          </a:xfrm>
          <a:prstGeom prst="rect">
            <a:avLst/>
          </a:prstGeom>
          <a:solidFill>
            <a:srgbClr val="27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4880" y="914400"/>
            <a:ext cx="3200400" cy="201168"/>
          </a:xfrm>
          <a:prstGeom prst="rect">
            <a:avLst/>
          </a:prstGeom>
          <a:solidFill>
            <a:srgbClr val="9C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0" y="-411480"/>
            <a:ext cx="2926080" cy="2926080"/>
          </a:xfrm>
          <a:prstGeom prst="ellipse">
            <a:avLst/>
          </a:prstGeom>
          <a:solidFill>
            <a:srgbClr val="27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0" y="-320040"/>
            <a:ext cx="2194560" cy="2194560"/>
          </a:xfrm>
          <a:prstGeom prst="ellipse">
            <a:avLst/>
          </a:prstGeom>
          <a:solidFill>
            <a:srgbClr val="9C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5-Point Star 8"/>
          <p:cNvSpPr/>
          <p:nvPr/>
        </p:nvSpPr>
        <p:spPr>
          <a:xfrm>
            <a:off x="9646920" y="137160"/>
            <a:ext cx="320040" cy="320040"/>
          </a:xfrm>
          <a:prstGeom prst="star5">
            <a:avLst/>
          </a:prstGeom>
          <a:solidFill>
            <a:srgbClr val="27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5-Point Star 9"/>
          <p:cNvSpPr/>
          <p:nvPr/>
        </p:nvSpPr>
        <p:spPr>
          <a:xfrm>
            <a:off x="10058400" y="530352"/>
            <a:ext cx="201168" cy="201168"/>
          </a:xfrm>
          <a:prstGeom prst="star5">
            <a:avLst/>
          </a:prstGeom>
          <a:solidFill>
            <a:srgbClr val="9C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"/>
            <a:ext cx="9418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KIẾN TRÚC MÔ HÌNH ĐỀ XUẤT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26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DCEAFF"/>
                </a:solidFill>
                <a:latin typeface="Calibri"/>
              </a:defRPr>
            </a:pPr>
            <a:r>
              <a:t>Chuỗi xử lý từ ảnh vào đến dự đoán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82880"/>
            <a:ext cx="1828800" cy="384048"/>
          </a:xfrm>
          <a:prstGeom prst="roundRect">
            <a:avLst/>
          </a:prstGeom>
          <a:solidFill>
            <a:srgbClr val="27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30968" y="24688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NỘI DUNG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1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1298448"/>
            <a:ext cx="7726679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CD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6072" y="1371600"/>
            <a:ext cx="7580375" cy="4928616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0" y="1298448"/>
            <a:ext cx="3291840" cy="5074920"/>
          </a:xfrm>
          <a:prstGeom prst="roundRect">
            <a:avLst/>
          </a:prstGeom>
          <a:solidFill>
            <a:srgbClr val="E9F3FF"/>
          </a:solidFill>
          <a:ln>
            <a:solidFill>
              <a:srgbClr val="B9C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67344" y="1353312"/>
            <a:ext cx="3182112" cy="4965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1746504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1645920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Ảnh đầu vào đi qua khối trích xuất đặc trưng MobileNetV2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2551176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2450592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Lớp gộp trung bình toàn cục giảm số tham số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3355848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3255264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Lớp dày đặc 128 nút học đặc trưng mức cao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160520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4059936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Dropout 0.3 và lớp đầu ra sigmoid cho bài toán hai lớp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1554480"/>
            <a:ext cx="2834640" cy="420624"/>
          </a:xfrm>
          <a:prstGeom prst="roundRect">
            <a:avLst/>
          </a:prstGeom>
          <a:solidFill>
            <a:srgbClr val="6D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32520" y="1664208"/>
            <a:ext cx="2651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ẢNH MINH HỌA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2057400"/>
            <a:ext cx="2834640" cy="4069080"/>
          </a:xfrm>
          <a:prstGeom prst="roundRect">
            <a:avLst/>
          </a:prstGeom>
          <a:solidFill>
            <a:srgbClr val="FAFDFF"/>
          </a:solidFill>
          <a:ln>
            <a:solidFill>
              <a:srgbClr val="B6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86800" y="2103120"/>
            <a:ext cx="27432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9E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z7634137949420_2b360ad9a556b2be6d84deb11ed62c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48840"/>
            <a:ext cx="2651760" cy="38862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1018520" y="6565392"/>
            <a:ext cx="914400" cy="21945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172741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1051560"/>
          </a:xfrm>
          <a:prstGeom prst="rect">
            <a:avLst/>
          </a:prstGeom>
          <a:solidFill>
            <a:srgbClr val="FF7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754880" cy="201168"/>
          </a:xfrm>
          <a:prstGeom prst="rect">
            <a:avLst/>
          </a:prstGeom>
          <a:solidFill>
            <a:srgbClr val="BE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4880" y="914400"/>
            <a:ext cx="3200400" cy="201168"/>
          </a:xfrm>
          <a:prstGeom prst="rect">
            <a:avLst/>
          </a:prstGeom>
          <a:solidFill>
            <a:srgbClr val="4D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0" y="-411480"/>
            <a:ext cx="2926080" cy="2926080"/>
          </a:xfrm>
          <a:prstGeom prst="ellipse">
            <a:avLst/>
          </a:prstGeom>
          <a:solidFill>
            <a:srgbClr val="BE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0" y="-320040"/>
            <a:ext cx="2194560" cy="2194560"/>
          </a:xfrm>
          <a:prstGeom prst="ellipse">
            <a:avLst/>
          </a:prstGeom>
          <a:solidFill>
            <a:srgbClr val="4D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5-Point Star 8"/>
          <p:cNvSpPr/>
          <p:nvPr/>
        </p:nvSpPr>
        <p:spPr>
          <a:xfrm>
            <a:off x="9646920" y="137160"/>
            <a:ext cx="320040" cy="320040"/>
          </a:xfrm>
          <a:prstGeom prst="star5">
            <a:avLst/>
          </a:prstGeom>
          <a:solidFill>
            <a:srgbClr val="BE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5-Point Star 9"/>
          <p:cNvSpPr/>
          <p:nvPr/>
        </p:nvSpPr>
        <p:spPr>
          <a:xfrm>
            <a:off x="10058400" y="530352"/>
            <a:ext cx="201168" cy="201168"/>
          </a:xfrm>
          <a:prstGeom prst="star5">
            <a:avLst/>
          </a:prstGeom>
          <a:solidFill>
            <a:srgbClr val="4D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"/>
            <a:ext cx="9418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MÔI TRƯỜNG THỰC NGHIỆM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26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DCEAFF"/>
                </a:solidFill>
                <a:latin typeface="Calibri"/>
              </a:defRPr>
            </a:pPr>
            <a:r>
              <a:t>Cấu hình triển khai và thư viện chính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82880"/>
            <a:ext cx="1828800" cy="384048"/>
          </a:xfrm>
          <a:prstGeom prst="roundRect">
            <a:avLst/>
          </a:prstGeom>
          <a:solidFill>
            <a:srgbClr val="BE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30968" y="24688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NỘI DUNG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1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1298448"/>
            <a:ext cx="7726679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CD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6072" y="1371600"/>
            <a:ext cx="7580375" cy="4928616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0" y="1298448"/>
            <a:ext cx="3291840" cy="5074920"/>
          </a:xfrm>
          <a:prstGeom prst="roundRect">
            <a:avLst/>
          </a:prstGeom>
          <a:solidFill>
            <a:srgbClr val="E9F3FF"/>
          </a:solidFill>
          <a:ln>
            <a:solidFill>
              <a:srgbClr val="B9C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67344" y="1353312"/>
            <a:ext cx="3182112" cy="4965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1746504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1645920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Hệ điều hành Windows và ngôn ngữ Python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2551176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2450592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Thư viện học sâu TensorFlow và Keras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3355848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3255264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Flask xây dựng ứng dụng web, pyodbc kết nối SQL Server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160520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4059936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Có thể chạy trên máy cá nhân không cần phần cứng cao cấp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1554480"/>
            <a:ext cx="2834640" cy="420624"/>
          </a:xfrm>
          <a:prstGeom prst="roundRect">
            <a:avLst/>
          </a:prstGeom>
          <a:solidFill>
            <a:srgbClr val="6D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32520" y="1664208"/>
            <a:ext cx="2651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ẢNH MINH HỌA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2057400"/>
            <a:ext cx="2834640" cy="4069080"/>
          </a:xfrm>
          <a:prstGeom prst="roundRect">
            <a:avLst/>
          </a:prstGeom>
          <a:solidFill>
            <a:srgbClr val="FAFDFF"/>
          </a:solidFill>
          <a:ln>
            <a:solidFill>
              <a:srgbClr val="B6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86800" y="2103120"/>
            <a:ext cx="27432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9E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z7634137976823_966460707ace0acc92495edbf909d33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48840"/>
            <a:ext cx="2651760" cy="38862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1018520" y="6565392"/>
            <a:ext cx="914400" cy="21945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172741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1051560"/>
          </a:xfrm>
          <a:prstGeom prst="rect">
            <a:avLst/>
          </a:prstGeom>
          <a:solidFill>
            <a:srgbClr val="81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754880" cy="201168"/>
          </a:xfrm>
          <a:prstGeom prst="rect">
            <a:avLst/>
          </a:prstGeom>
          <a:solidFill>
            <a:srgbClr val="FF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4880" y="914400"/>
            <a:ext cx="3200400" cy="2011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0" y="-411480"/>
            <a:ext cx="2926080" cy="2926080"/>
          </a:xfrm>
          <a:prstGeom prst="ellipse">
            <a:avLst/>
          </a:prstGeom>
          <a:solidFill>
            <a:srgbClr val="FF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0" y="-320040"/>
            <a:ext cx="2194560" cy="219456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5-Point Star 8"/>
          <p:cNvSpPr/>
          <p:nvPr/>
        </p:nvSpPr>
        <p:spPr>
          <a:xfrm>
            <a:off x="9646920" y="137160"/>
            <a:ext cx="320040" cy="320040"/>
          </a:xfrm>
          <a:prstGeom prst="star5">
            <a:avLst/>
          </a:prstGeom>
          <a:solidFill>
            <a:srgbClr val="FF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5-Point Star 9"/>
          <p:cNvSpPr/>
          <p:nvPr/>
        </p:nvSpPr>
        <p:spPr>
          <a:xfrm>
            <a:off x="10058400" y="530352"/>
            <a:ext cx="201168" cy="201168"/>
          </a:xfrm>
          <a:prstGeom prst="star5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"/>
            <a:ext cx="9418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SIÊU THAM SỐ HUẤN LUYỆN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26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DCEAFF"/>
                </a:solidFill>
                <a:latin typeface="Calibri"/>
              </a:defRPr>
            </a:pPr>
            <a:r>
              <a:t>Các tham số quyết định chất lượng học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82880"/>
            <a:ext cx="1828800" cy="384048"/>
          </a:xfrm>
          <a:prstGeom prst="roundRect">
            <a:avLst/>
          </a:prstGeom>
          <a:solidFill>
            <a:srgbClr val="FF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30968" y="24688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NỘI DUNG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1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1298448"/>
            <a:ext cx="7726679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CD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6072" y="1371600"/>
            <a:ext cx="7580375" cy="4928616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0" y="1298448"/>
            <a:ext cx="3291840" cy="5074920"/>
          </a:xfrm>
          <a:prstGeom prst="roundRect">
            <a:avLst/>
          </a:prstGeom>
          <a:solidFill>
            <a:srgbClr val="E9F3FF"/>
          </a:solidFill>
          <a:ln>
            <a:solidFill>
              <a:srgbClr val="B9C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67344" y="1353312"/>
            <a:ext cx="3182112" cy="4965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1746504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1645920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Kích thước đầu vào 160 x 160 x 3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2551176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2450592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Batch size 32 và số vòng học 10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3355848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3255264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Tỷ lệ bỏ ngẫu nhiên 0.3 để tránh quá khớp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160520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4059936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Bộ tối ưu Adam kết hợp hàm mất mát nhị phân chéo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1554480"/>
            <a:ext cx="2834640" cy="420624"/>
          </a:xfrm>
          <a:prstGeom prst="roundRect">
            <a:avLst/>
          </a:prstGeom>
          <a:solidFill>
            <a:srgbClr val="6D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32520" y="1664208"/>
            <a:ext cx="2651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ẢNH MINH HỌA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2057400"/>
            <a:ext cx="2834640" cy="4069080"/>
          </a:xfrm>
          <a:prstGeom prst="roundRect">
            <a:avLst/>
          </a:prstGeom>
          <a:solidFill>
            <a:srgbClr val="FAFDFF"/>
          </a:solidFill>
          <a:ln>
            <a:solidFill>
              <a:srgbClr val="B6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86800" y="2103120"/>
            <a:ext cx="27432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9E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z7634137997594_86aa4e68a5baa34990da3ebd8c81ec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48840"/>
            <a:ext cx="2651760" cy="38862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1018520" y="6565392"/>
            <a:ext cx="914400" cy="21945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172741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1051560"/>
          </a:xfrm>
          <a:prstGeom prst="rect">
            <a:avLst/>
          </a:prstGeom>
          <a:solidFill>
            <a:srgbClr val="FF4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754880" cy="20116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4880" y="914400"/>
            <a:ext cx="3200400" cy="201168"/>
          </a:xfrm>
          <a:prstGeom prst="rect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0" y="-411480"/>
            <a:ext cx="2926080" cy="29260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0" y="-320040"/>
            <a:ext cx="2194560" cy="2194560"/>
          </a:xfrm>
          <a:prstGeom prst="ellipse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5-Point Star 8"/>
          <p:cNvSpPr/>
          <p:nvPr/>
        </p:nvSpPr>
        <p:spPr>
          <a:xfrm>
            <a:off x="9646920" y="137160"/>
            <a:ext cx="320040" cy="320040"/>
          </a:xfrm>
          <a:prstGeom prst="star5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5-Point Star 9"/>
          <p:cNvSpPr/>
          <p:nvPr/>
        </p:nvSpPr>
        <p:spPr>
          <a:xfrm>
            <a:off x="10058400" y="530352"/>
            <a:ext cx="201168" cy="201168"/>
          </a:xfrm>
          <a:prstGeom prst="star5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"/>
            <a:ext cx="9418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KẾT QUẢ QUÁ TRÌNH HỌC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26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DCEAFF"/>
                </a:solidFill>
                <a:latin typeface="Calibri"/>
              </a:defRPr>
            </a:pPr>
            <a:r>
              <a:t>Phân tích đồ thị độ chính xác và sai số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82880"/>
            <a:ext cx="1828800" cy="384048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30968" y="24688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NỘI DUNG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1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1298448"/>
            <a:ext cx="7726679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CD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6072" y="1371600"/>
            <a:ext cx="7580375" cy="4928616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0" y="1298448"/>
            <a:ext cx="3291840" cy="5074920"/>
          </a:xfrm>
          <a:prstGeom prst="roundRect">
            <a:avLst/>
          </a:prstGeom>
          <a:solidFill>
            <a:srgbClr val="E9F3FF"/>
          </a:solidFill>
          <a:ln>
            <a:solidFill>
              <a:srgbClr val="B9C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67344" y="1353312"/>
            <a:ext cx="3182112" cy="4965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1746504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1645920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Độ chính xác tăng nhanh sau vài vòng học đầu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2551176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2450592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Đường huấn luyện và kiểm tra bám khá sát nhau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3355848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3255264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Sai số giảm rõ rệt theo thời gian huấn luyện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160520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4059936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Mô hình đạt trạng thái học ổn định, ít dấu hiệu lệch pha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1554480"/>
            <a:ext cx="2834640" cy="420624"/>
          </a:xfrm>
          <a:prstGeom prst="roundRect">
            <a:avLst/>
          </a:prstGeom>
          <a:solidFill>
            <a:srgbClr val="6D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32520" y="1664208"/>
            <a:ext cx="2651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ẢNH MINH HỌA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2057400"/>
            <a:ext cx="2834640" cy="4069080"/>
          </a:xfrm>
          <a:prstGeom prst="roundRect">
            <a:avLst/>
          </a:prstGeom>
          <a:solidFill>
            <a:srgbClr val="FAFDFF"/>
          </a:solidFill>
          <a:ln>
            <a:solidFill>
              <a:srgbClr val="B6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86800" y="2103120"/>
            <a:ext cx="27432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9E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z7634138027282_632a44e93dcba1b030117155b22c456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48840"/>
            <a:ext cx="2651760" cy="38862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1018520" y="6565392"/>
            <a:ext cx="914400" cy="21945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172741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1051560"/>
          </a:xfrm>
          <a:prstGeom prst="rect">
            <a:avLst/>
          </a:prstGeom>
          <a:solidFill>
            <a:srgbClr val="00D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754880" cy="201168"/>
          </a:xfrm>
          <a:prstGeom prst="rect">
            <a:avLst/>
          </a:prstGeom>
          <a:solidFill>
            <a:srgbClr val="27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4880" y="914400"/>
            <a:ext cx="3200400" cy="201168"/>
          </a:xfrm>
          <a:prstGeom prst="rect">
            <a:avLst/>
          </a:prstGeom>
          <a:solidFill>
            <a:srgbClr val="9C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0" y="-411480"/>
            <a:ext cx="2926080" cy="2926080"/>
          </a:xfrm>
          <a:prstGeom prst="ellipse">
            <a:avLst/>
          </a:prstGeom>
          <a:solidFill>
            <a:srgbClr val="27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0" y="-320040"/>
            <a:ext cx="2194560" cy="2194560"/>
          </a:xfrm>
          <a:prstGeom prst="ellipse">
            <a:avLst/>
          </a:prstGeom>
          <a:solidFill>
            <a:srgbClr val="9C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5-Point Star 8"/>
          <p:cNvSpPr/>
          <p:nvPr/>
        </p:nvSpPr>
        <p:spPr>
          <a:xfrm>
            <a:off x="9646920" y="137160"/>
            <a:ext cx="320040" cy="320040"/>
          </a:xfrm>
          <a:prstGeom prst="star5">
            <a:avLst/>
          </a:prstGeom>
          <a:solidFill>
            <a:srgbClr val="27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5-Point Star 9"/>
          <p:cNvSpPr/>
          <p:nvPr/>
        </p:nvSpPr>
        <p:spPr>
          <a:xfrm>
            <a:off x="10058400" y="530352"/>
            <a:ext cx="201168" cy="201168"/>
          </a:xfrm>
          <a:prstGeom prst="star5">
            <a:avLst/>
          </a:prstGeom>
          <a:solidFill>
            <a:srgbClr val="9C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"/>
            <a:ext cx="9418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MA TRẬN NHẦM LẪN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26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DCEAFF"/>
                </a:solidFill>
                <a:latin typeface="Calibri"/>
              </a:defRPr>
            </a:pPr>
            <a:r>
              <a:t>Phân tích dự đoán đúng và sai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82880"/>
            <a:ext cx="1828800" cy="384048"/>
          </a:xfrm>
          <a:prstGeom prst="roundRect">
            <a:avLst/>
          </a:prstGeom>
          <a:solidFill>
            <a:srgbClr val="27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30968" y="24688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NỘI DUNG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1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1298448"/>
            <a:ext cx="7726679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CD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6072" y="1371600"/>
            <a:ext cx="7580375" cy="4928616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0" y="1298448"/>
            <a:ext cx="3291840" cy="5074920"/>
          </a:xfrm>
          <a:prstGeom prst="roundRect">
            <a:avLst/>
          </a:prstGeom>
          <a:solidFill>
            <a:srgbClr val="E9F3FF"/>
          </a:solidFill>
          <a:ln>
            <a:solidFill>
              <a:srgbClr val="B9C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67344" y="1353312"/>
            <a:ext cx="3182112" cy="4965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1746504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1645920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Ô đường chéo chính chiếm đa số nên dự đoán đúng cao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2551176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2450592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Lỗi chủ yếu xuất hiện ở ảnh mờ hoặc bị che khuất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3355848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3255264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Một số ảnh có nền phức tạp gây nhầm giữa hai lớp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160520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4059936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Kết quả cho thấy mô hình đủ tốt để triển khai bản thử nghiệm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1554480"/>
            <a:ext cx="2834640" cy="420624"/>
          </a:xfrm>
          <a:prstGeom prst="roundRect">
            <a:avLst/>
          </a:prstGeom>
          <a:solidFill>
            <a:srgbClr val="6D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32520" y="1664208"/>
            <a:ext cx="2651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ẢNH MINH HỌA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2057400"/>
            <a:ext cx="2834640" cy="4069080"/>
          </a:xfrm>
          <a:prstGeom prst="roundRect">
            <a:avLst/>
          </a:prstGeom>
          <a:solidFill>
            <a:srgbClr val="FAFDFF"/>
          </a:solidFill>
          <a:ln>
            <a:solidFill>
              <a:srgbClr val="B6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86800" y="2103120"/>
            <a:ext cx="27432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9E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z7634138039916_d9d45e53644278e8ed42b3a1e3fc26c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48840"/>
            <a:ext cx="2651760" cy="38862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1018520" y="6565392"/>
            <a:ext cx="914400" cy="21945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172741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1051560"/>
          </a:xfrm>
          <a:prstGeom prst="rect">
            <a:avLst/>
          </a:prstGeom>
          <a:solidFill>
            <a:srgbClr val="FF7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754880" cy="201168"/>
          </a:xfrm>
          <a:prstGeom prst="rect">
            <a:avLst/>
          </a:prstGeom>
          <a:solidFill>
            <a:srgbClr val="BE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4880" y="914400"/>
            <a:ext cx="3200400" cy="201168"/>
          </a:xfrm>
          <a:prstGeom prst="rect">
            <a:avLst/>
          </a:prstGeom>
          <a:solidFill>
            <a:srgbClr val="4D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0" y="-411480"/>
            <a:ext cx="2926080" cy="2926080"/>
          </a:xfrm>
          <a:prstGeom prst="ellipse">
            <a:avLst/>
          </a:prstGeom>
          <a:solidFill>
            <a:srgbClr val="BE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0" y="-320040"/>
            <a:ext cx="2194560" cy="2194560"/>
          </a:xfrm>
          <a:prstGeom prst="ellipse">
            <a:avLst/>
          </a:prstGeom>
          <a:solidFill>
            <a:srgbClr val="4D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5-Point Star 8"/>
          <p:cNvSpPr/>
          <p:nvPr/>
        </p:nvSpPr>
        <p:spPr>
          <a:xfrm>
            <a:off x="9646920" y="137160"/>
            <a:ext cx="320040" cy="320040"/>
          </a:xfrm>
          <a:prstGeom prst="star5">
            <a:avLst/>
          </a:prstGeom>
          <a:solidFill>
            <a:srgbClr val="BE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5-Point Star 9"/>
          <p:cNvSpPr/>
          <p:nvPr/>
        </p:nvSpPr>
        <p:spPr>
          <a:xfrm>
            <a:off x="10058400" y="530352"/>
            <a:ext cx="201168" cy="201168"/>
          </a:xfrm>
          <a:prstGeom prst="star5">
            <a:avLst/>
          </a:prstGeom>
          <a:solidFill>
            <a:srgbClr val="4D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"/>
            <a:ext cx="9418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SO SÁNH CÁC MÔ HÌNH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26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DCEAFF"/>
                </a:solidFill>
                <a:latin typeface="Calibri"/>
              </a:defRPr>
            </a:pPr>
            <a:r>
              <a:t>Nhìn lại quá trình thử nghiệm trong báo cáo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82880"/>
            <a:ext cx="1828800" cy="384048"/>
          </a:xfrm>
          <a:prstGeom prst="roundRect">
            <a:avLst/>
          </a:prstGeom>
          <a:solidFill>
            <a:srgbClr val="BE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30968" y="24688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NỘI DUNG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1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1298448"/>
            <a:ext cx="7726679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CD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6072" y="1371600"/>
            <a:ext cx="7580375" cy="4928616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0" y="1298448"/>
            <a:ext cx="3291840" cy="5074920"/>
          </a:xfrm>
          <a:prstGeom prst="roundRect">
            <a:avLst/>
          </a:prstGeom>
          <a:solidFill>
            <a:srgbClr val="E9F3FF"/>
          </a:solidFill>
          <a:ln>
            <a:solidFill>
              <a:srgbClr val="B9C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67344" y="1353312"/>
            <a:ext cx="3182112" cy="4965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1746504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1645920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Nhóm đã khảo sát mô hình tuyến tính, rừng ngẫu nhiên và CNN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2551176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2450592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Mô hình học sâu cải thiện rõ khi kết hợp học chuyển giao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3355848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3255264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Kết quả thực nghiệm nhấn mạnh vai trò của dữ liệu cân bằng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160520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4059936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Lựa chọn cuối cùng ưu tiên độ ổn định khi đưa lên web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1554480"/>
            <a:ext cx="2834640" cy="420624"/>
          </a:xfrm>
          <a:prstGeom prst="roundRect">
            <a:avLst/>
          </a:prstGeom>
          <a:solidFill>
            <a:srgbClr val="6D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32520" y="1664208"/>
            <a:ext cx="2651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ẢNH MINH HỌA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2057400"/>
            <a:ext cx="2834640" cy="4069080"/>
          </a:xfrm>
          <a:prstGeom prst="roundRect">
            <a:avLst/>
          </a:prstGeom>
          <a:solidFill>
            <a:srgbClr val="FAFDFF"/>
          </a:solidFill>
          <a:ln>
            <a:solidFill>
              <a:srgbClr val="B6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86800" y="2103120"/>
            <a:ext cx="27432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9E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z7634138077489_f8c774aac7e1e38eb7ec12f961c4802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48840"/>
            <a:ext cx="2651760" cy="38862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1018520" y="6565392"/>
            <a:ext cx="914400" cy="21945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172741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1051560"/>
          </a:xfrm>
          <a:prstGeom prst="rect">
            <a:avLst/>
          </a:prstGeom>
          <a:solidFill>
            <a:srgbClr val="81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754880" cy="201168"/>
          </a:xfrm>
          <a:prstGeom prst="rect">
            <a:avLst/>
          </a:prstGeom>
          <a:solidFill>
            <a:srgbClr val="FF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4880" y="914400"/>
            <a:ext cx="3200400" cy="2011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0" y="-411480"/>
            <a:ext cx="2926080" cy="2926080"/>
          </a:xfrm>
          <a:prstGeom prst="ellipse">
            <a:avLst/>
          </a:prstGeom>
          <a:solidFill>
            <a:srgbClr val="FF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0" y="-320040"/>
            <a:ext cx="2194560" cy="219456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5-Point Star 8"/>
          <p:cNvSpPr/>
          <p:nvPr/>
        </p:nvSpPr>
        <p:spPr>
          <a:xfrm>
            <a:off x="9646920" y="137160"/>
            <a:ext cx="320040" cy="320040"/>
          </a:xfrm>
          <a:prstGeom prst="star5">
            <a:avLst/>
          </a:prstGeom>
          <a:solidFill>
            <a:srgbClr val="FF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5-Point Star 9"/>
          <p:cNvSpPr/>
          <p:nvPr/>
        </p:nvSpPr>
        <p:spPr>
          <a:xfrm>
            <a:off x="10058400" y="530352"/>
            <a:ext cx="201168" cy="201168"/>
          </a:xfrm>
          <a:prstGeom prst="star5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"/>
            <a:ext cx="9418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PHÂN TÍCH LỖI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26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DCEAFF"/>
                </a:solidFill>
                <a:latin typeface="Calibri"/>
              </a:defRPr>
            </a:pPr>
            <a:r>
              <a:t>Những tình huống dễ gây nhầm lẫn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82880"/>
            <a:ext cx="1828800" cy="384048"/>
          </a:xfrm>
          <a:prstGeom prst="roundRect">
            <a:avLst/>
          </a:prstGeom>
          <a:solidFill>
            <a:srgbClr val="FF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30968" y="24688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NỘI DUNG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1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1298448"/>
            <a:ext cx="7726679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CD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6072" y="1371600"/>
            <a:ext cx="7580375" cy="4928616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0" y="1298448"/>
            <a:ext cx="3291840" cy="5074920"/>
          </a:xfrm>
          <a:prstGeom prst="roundRect">
            <a:avLst/>
          </a:prstGeom>
          <a:solidFill>
            <a:srgbClr val="E9F3FF"/>
          </a:solidFill>
          <a:ln>
            <a:solidFill>
              <a:srgbClr val="B9C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67344" y="1353312"/>
            <a:ext cx="3182112" cy="4965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1746504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1645920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Lỗi dương giả: chó mặt tròn hoặc lông dày bị đoán thành mèo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2551176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2450592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Lỗi âm giả: mèo lông xù, tư thế cuộn làm mất đặc trưng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3355848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3255264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Nguyên nhân chính là che khuất vùng tai, mắt, mõm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160520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4059936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Nhiễu nền và góc chụp khó làm giảm độ phân biệt đặc trưng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1554480"/>
            <a:ext cx="2834640" cy="420624"/>
          </a:xfrm>
          <a:prstGeom prst="roundRect">
            <a:avLst/>
          </a:prstGeom>
          <a:solidFill>
            <a:srgbClr val="6D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32520" y="1664208"/>
            <a:ext cx="2651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ẢNH MINH HỌA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2057400"/>
            <a:ext cx="2834640" cy="4069080"/>
          </a:xfrm>
          <a:prstGeom prst="roundRect">
            <a:avLst/>
          </a:prstGeom>
          <a:solidFill>
            <a:srgbClr val="FAFDFF"/>
          </a:solidFill>
          <a:ln>
            <a:solidFill>
              <a:srgbClr val="B6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86800" y="2103120"/>
            <a:ext cx="27432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9E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z7634138102209_1f277c97968f0c6ab325e4715a356a0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48840"/>
            <a:ext cx="2651760" cy="38862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1018520" y="6565392"/>
            <a:ext cx="914400" cy="21945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172741"/>
                </a:solidFill>
                <a:latin typeface="Calibr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1051560"/>
          </a:xfrm>
          <a:prstGeom prst="rect">
            <a:avLst/>
          </a:prstGeom>
          <a:solidFill>
            <a:srgbClr val="FF4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754880" cy="20116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4880" y="914400"/>
            <a:ext cx="3200400" cy="201168"/>
          </a:xfrm>
          <a:prstGeom prst="rect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0" y="-411480"/>
            <a:ext cx="2926080" cy="29260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0" y="-320040"/>
            <a:ext cx="2194560" cy="2194560"/>
          </a:xfrm>
          <a:prstGeom prst="ellipse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5-Point Star 8"/>
          <p:cNvSpPr/>
          <p:nvPr/>
        </p:nvSpPr>
        <p:spPr>
          <a:xfrm>
            <a:off x="9646920" y="137160"/>
            <a:ext cx="320040" cy="320040"/>
          </a:xfrm>
          <a:prstGeom prst="star5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5-Point Star 9"/>
          <p:cNvSpPr/>
          <p:nvPr/>
        </p:nvSpPr>
        <p:spPr>
          <a:xfrm>
            <a:off x="10058400" y="530352"/>
            <a:ext cx="201168" cy="201168"/>
          </a:xfrm>
          <a:prstGeom prst="star5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"/>
            <a:ext cx="9418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HẠN CHẾ CỦA HỆ THỐNG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26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DCEAFF"/>
                </a:solidFill>
                <a:latin typeface="Calibri"/>
              </a:defRPr>
            </a:pPr>
            <a:r>
              <a:t>Những điểm cần cải thiện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82880"/>
            <a:ext cx="1828800" cy="384048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30968" y="24688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NỘI DUNG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1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1298448"/>
            <a:ext cx="7726679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CD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6072" y="1371600"/>
            <a:ext cx="7580375" cy="4928616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0" y="1298448"/>
            <a:ext cx="3291840" cy="5074920"/>
          </a:xfrm>
          <a:prstGeom prst="roundRect">
            <a:avLst/>
          </a:prstGeom>
          <a:solidFill>
            <a:srgbClr val="E9F3FF"/>
          </a:solidFill>
          <a:ln>
            <a:solidFill>
              <a:srgbClr val="B9C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67344" y="1353312"/>
            <a:ext cx="3182112" cy="4965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1746504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1645920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Mới hỗ trợ một đối tượng chính trong mỗi ảnh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2551176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2450592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Chưa có cơ chế tự học liên tục từ dữ liệu mới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3355848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3255264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Chưa hỗ trợ nhận diện theo luồng máy quay thời gian thực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160520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4059936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Hiện chạy cục bộ, chưa đưa lên hạ tầng đám mây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1554480"/>
            <a:ext cx="2834640" cy="420624"/>
          </a:xfrm>
          <a:prstGeom prst="roundRect">
            <a:avLst/>
          </a:prstGeom>
          <a:solidFill>
            <a:srgbClr val="6D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32520" y="1664208"/>
            <a:ext cx="2651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ẢNH MINH HỌA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2057400"/>
            <a:ext cx="2834640" cy="4069080"/>
          </a:xfrm>
          <a:prstGeom prst="roundRect">
            <a:avLst/>
          </a:prstGeom>
          <a:solidFill>
            <a:srgbClr val="FAFDFF"/>
          </a:solidFill>
          <a:ln>
            <a:solidFill>
              <a:srgbClr val="B6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86800" y="2103120"/>
            <a:ext cx="27432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9E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48840"/>
            <a:ext cx="2651760" cy="38862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1018520" y="6565392"/>
            <a:ext cx="914400" cy="21945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172741"/>
                </a:solidFill>
                <a:latin typeface="Calibr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1051560"/>
          </a:xfrm>
          <a:prstGeom prst="rect">
            <a:avLst/>
          </a:prstGeom>
          <a:solidFill>
            <a:srgbClr val="00D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754880" cy="201168"/>
          </a:xfrm>
          <a:prstGeom prst="rect">
            <a:avLst/>
          </a:prstGeom>
          <a:solidFill>
            <a:srgbClr val="27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4880" y="914400"/>
            <a:ext cx="3200400" cy="201168"/>
          </a:xfrm>
          <a:prstGeom prst="rect">
            <a:avLst/>
          </a:prstGeom>
          <a:solidFill>
            <a:srgbClr val="9C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0" y="-411480"/>
            <a:ext cx="2926080" cy="2926080"/>
          </a:xfrm>
          <a:prstGeom prst="ellipse">
            <a:avLst/>
          </a:prstGeom>
          <a:solidFill>
            <a:srgbClr val="27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0" y="-320040"/>
            <a:ext cx="2194560" cy="2194560"/>
          </a:xfrm>
          <a:prstGeom prst="ellipse">
            <a:avLst/>
          </a:prstGeom>
          <a:solidFill>
            <a:srgbClr val="9C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5-Point Star 8"/>
          <p:cNvSpPr/>
          <p:nvPr/>
        </p:nvSpPr>
        <p:spPr>
          <a:xfrm>
            <a:off x="9646920" y="137160"/>
            <a:ext cx="320040" cy="320040"/>
          </a:xfrm>
          <a:prstGeom prst="star5">
            <a:avLst/>
          </a:prstGeom>
          <a:solidFill>
            <a:srgbClr val="27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5-Point Star 9"/>
          <p:cNvSpPr/>
          <p:nvPr/>
        </p:nvSpPr>
        <p:spPr>
          <a:xfrm>
            <a:off x="10058400" y="530352"/>
            <a:ext cx="201168" cy="201168"/>
          </a:xfrm>
          <a:prstGeom prst="star5">
            <a:avLst/>
          </a:prstGeom>
          <a:solidFill>
            <a:srgbClr val="9C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"/>
            <a:ext cx="9418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TÍCH HỢP HỆ THỐNG 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26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DCEAFF"/>
                </a:solidFill>
                <a:latin typeface="Calibri"/>
              </a:defRPr>
            </a:pPr>
            <a:r>
              <a:t>Liên kết giữa mô hình, phân quyền và dữ liệu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82880"/>
            <a:ext cx="1828800" cy="384048"/>
          </a:xfrm>
          <a:prstGeom prst="roundRect">
            <a:avLst/>
          </a:prstGeom>
          <a:solidFill>
            <a:srgbClr val="27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30968" y="24688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NỘI DUNG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1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1298448"/>
            <a:ext cx="7726679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CD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6072" y="1371600"/>
            <a:ext cx="7580375" cy="4928616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0" y="1298448"/>
            <a:ext cx="3291840" cy="5074920"/>
          </a:xfrm>
          <a:prstGeom prst="roundRect">
            <a:avLst/>
          </a:prstGeom>
          <a:solidFill>
            <a:srgbClr val="E9F3FF"/>
          </a:solidFill>
          <a:ln>
            <a:solidFill>
              <a:srgbClr val="B9C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67344" y="1353312"/>
            <a:ext cx="3182112" cy="4965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1746504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1645920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Ứng dụng web cho phép tải ảnh và suy luận tức thời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2551176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2450592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Phiên đăng nhập quản lý vai trò khách, người dùng, quản trị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3355848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3255264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Người dùng thường lưu và quản lý lịch sử nhận diện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160520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4059936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Cơ sở dữ liệu SQL Server dùng tài khoản sa theo yêu cầu đề bài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1554480"/>
            <a:ext cx="2834640" cy="420624"/>
          </a:xfrm>
          <a:prstGeom prst="roundRect">
            <a:avLst/>
          </a:prstGeom>
          <a:solidFill>
            <a:srgbClr val="6D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32520" y="1664208"/>
            <a:ext cx="2651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ẢNH MINH HỌA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2057400"/>
            <a:ext cx="2834640" cy="4069080"/>
          </a:xfrm>
          <a:prstGeom prst="roundRect">
            <a:avLst/>
          </a:prstGeom>
          <a:solidFill>
            <a:srgbClr val="FAFDFF"/>
          </a:solidFill>
          <a:ln>
            <a:solidFill>
              <a:srgbClr val="B6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86800" y="2103120"/>
            <a:ext cx="27432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9E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1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48840"/>
            <a:ext cx="2651760" cy="38862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1018520" y="6565392"/>
            <a:ext cx="914400" cy="21945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172741"/>
                </a:solidFill>
                <a:latin typeface="Calibr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1051560"/>
          </a:xfrm>
          <a:prstGeom prst="rect">
            <a:avLst/>
          </a:prstGeom>
          <a:solidFill>
            <a:srgbClr val="FF7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754880" cy="201168"/>
          </a:xfrm>
          <a:prstGeom prst="rect">
            <a:avLst/>
          </a:prstGeom>
          <a:solidFill>
            <a:srgbClr val="BE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4880" y="914400"/>
            <a:ext cx="3200400" cy="201168"/>
          </a:xfrm>
          <a:prstGeom prst="rect">
            <a:avLst/>
          </a:prstGeom>
          <a:solidFill>
            <a:srgbClr val="4D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0" y="-411480"/>
            <a:ext cx="2926080" cy="2926080"/>
          </a:xfrm>
          <a:prstGeom prst="ellipse">
            <a:avLst/>
          </a:prstGeom>
          <a:solidFill>
            <a:srgbClr val="BE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0" y="-320040"/>
            <a:ext cx="2194560" cy="2194560"/>
          </a:xfrm>
          <a:prstGeom prst="ellipse">
            <a:avLst/>
          </a:prstGeom>
          <a:solidFill>
            <a:srgbClr val="4D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5-Point Star 8"/>
          <p:cNvSpPr/>
          <p:nvPr/>
        </p:nvSpPr>
        <p:spPr>
          <a:xfrm>
            <a:off x="9646920" y="137160"/>
            <a:ext cx="320040" cy="320040"/>
          </a:xfrm>
          <a:prstGeom prst="star5">
            <a:avLst/>
          </a:prstGeom>
          <a:solidFill>
            <a:srgbClr val="BE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5-Point Star 9"/>
          <p:cNvSpPr/>
          <p:nvPr/>
        </p:nvSpPr>
        <p:spPr>
          <a:xfrm>
            <a:off x="10058400" y="530352"/>
            <a:ext cx="201168" cy="201168"/>
          </a:xfrm>
          <a:prstGeom prst="star5">
            <a:avLst/>
          </a:prstGeom>
          <a:solidFill>
            <a:srgbClr val="4DC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"/>
            <a:ext cx="9418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KẾT LUẬN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26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DCEAFF"/>
                </a:solidFill>
                <a:latin typeface="Calibri"/>
              </a:defRPr>
            </a:pPr>
            <a:r>
              <a:t>Các kết quả chính đã đạt được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82880"/>
            <a:ext cx="1828800" cy="384048"/>
          </a:xfrm>
          <a:prstGeom prst="roundRect">
            <a:avLst/>
          </a:prstGeom>
          <a:solidFill>
            <a:srgbClr val="BE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30968" y="24688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NỘI DUNG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1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1298448"/>
            <a:ext cx="7726679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CD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6072" y="1371600"/>
            <a:ext cx="7580375" cy="4928616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0" y="1298448"/>
            <a:ext cx="3291840" cy="5074920"/>
          </a:xfrm>
          <a:prstGeom prst="roundRect">
            <a:avLst/>
          </a:prstGeom>
          <a:solidFill>
            <a:srgbClr val="E9F3FF"/>
          </a:solidFill>
          <a:ln>
            <a:solidFill>
              <a:srgbClr val="B9C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67344" y="1353312"/>
            <a:ext cx="3182112" cy="4965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1746504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1645920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Hoàn thiện luồng từ huấn luyện đến triển khai web nhận diện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2551176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2450592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Xây dựng được kiến trúc mã nguồn rõ ràng theo 5 lớp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3355848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3255264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Đáp ứng đúng bảng phân quyền nghiệp vụ của đề tài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160520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4059936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Mô hình đạt hiệu quả tốt với tập dữ liệu giới hạn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1554480"/>
            <a:ext cx="2834640" cy="420624"/>
          </a:xfrm>
          <a:prstGeom prst="roundRect">
            <a:avLst/>
          </a:prstGeom>
          <a:solidFill>
            <a:srgbClr val="6D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32520" y="1664208"/>
            <a:ext cx="2651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ẢNH MINH HỌA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2057400"/>
            <a:ext cx="2834640" cy="4069080"/>
          </a:xfrm>
          <a:prstGeom prst="roundRect">
            <a:avLst/>
          </a:prstGeom>
          <a:solidFill>
            <a:srgbClr val="FAFDFF"/>
          </a:solidFill>
          <a:ln>
            <a:solidFill>
              <a:srgbClr val="B6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86800" y="2103120"/>
            <a:ext cx="27432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9E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2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48840"/>
            <a:ext cx="2651760" cy="38862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1018520" y="6565392"/>
            <a:ext cx="914400" cy="21945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172741"/>
                </a:solidFill>
                <a:latin typeface="Calibr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1051560"/>
          </a:xfrm>
          <a:prstGeom prst="rect">
            <a:avLst/>
          </a:prstGeom>
          <a:solidFill>
            <a:srgbClr val="815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754880" cy="201168"/>
          </a:xfrm>
          <a:prstGeom prst="rect">
            <a:avLst/>
          </a:prstGeom>
          <a:solidFill>
            <a:srgbClr val="FF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4880" y="914400"/>
            <a:ext cx="3200400" cy="20116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0" y="-411480"/>
            <a:ext cx="2926080" cy="2926080"/>
          </a:xfrm>
          <a:prstGeom prst="ellipse">
            <a:avLst/>
          </a:prstGeom>
          <a:solidFill>
            <a:srgbClr val="FF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0" y="-320040"/>
            <a:ext cx="2194560" cy="219456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5-Point Star 8"/>
          <p:cNvSpPr/>
          <p:nvPr/>
        </p:nvSpPr>
        <p:spPr>
          <a:xfrm>
            <a:off x="9646920" y="137160"/>
            <a:ext cx="320040" cy="320040"/>
          </a:xfrm>
          <a:prstGeom prst="star5">
            <a:avLst/>
          </a:prstGeom>
          <a:solidFill>
            <a:srgbClr val="FF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5-Point Star 9"/>
          <p:cNvSpPr/>
          <p:nvPr/>
        </p:nvSpPr>
        <p:spPr>
          <a:xfrm>
            <a:off x="10058400" y="530352"/>
            <a:ext cx="201168" cy="201168"/>
          </a:xfrm>
          <a:prstGeom prst="star5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"/>
            <a:ext cx="9418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HƯỚNG PHÁT TRIỂN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26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DCEAFF"/>
                </a:solidFill>
                <a:latin typeface="Calibri"/>
              </a:defRPr>
            </a:pPr>
            <a:r>
              <a:t>Mở rộng chất lượng và phạm vi ứng dụng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82880"/>
            <a:ext cx="1828800" cy="384048"/>
          </a:xfrm>
          <a:prstGeom prst="roundRect">
            <a:avLst/>
          </a:prstGeom>
          <a:solidFill>
            <a:srgbClr val="FF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30968" y="24688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NỘI DUNG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1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1298448"/>
            <a:ext cx="7726679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CD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6072" y="1371600"/>
            <a:ext cx="7580375" cy="4928616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0" y="1298448"/>
            <a:ext cx="3291840" cy="5074920"/>
          </a:xfrm>
          <a:prstGeom prst="roundRect">
            <a:avLst/>
          </a:prstGeom>
          <a:solidFill>
            <a:srgbClr val="E9F3FF"/>
          </a:solidFill>
          <a:ln>
            <a:solidFill>
              <a:srgbClr val="B9C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67344" y="1353312"/>
            <a:ext cx="3182112" cy="4965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1746504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1645920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Tăng kích thước dữ liệu và đa dạng điều kiện chụp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2551176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2450592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Thử nghiệm thêm kiến trúc mạnh như ResNet hoặc EfficientNet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3355848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3255264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Tối ưu tham số tự động để đạt chất lượng ổn định hơn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4160520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4059936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Triển khai đám mây và mở rộng nhận diện nhiều loài động vật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1554480"/>
            <a:ext cx="2834640" cy="420624"/>
          </a:xfrm>
          <a:prstGeom prst="roundRect">
            <a:avLst/>
          </a:prstGeom>
          <a:solidFill>
            <a:srgbClr val="6D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32520" y="1664208"/>
            <a:ext cx="2651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ẢNH MINH HỌA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2057400"/>
            <a:ext cx="2834640" cy="4069080"/>
          </a:xfrm>
          <a:prstGeom prst="roundRect">
            <a:avLst/>
          </a:prstGeom>
          <a:solidFill>
            <a:srgbClr val="FAFDFF"/>
          </a:solidFill>
          <a:ln>
            <a:solidFill>
              <a:srgbClr val="B6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86800" y="2103120"/>
            <a:ext cx="27432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9E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2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48840"/>
            <a:ext cx="2651760" cy="38862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1018520" y="6565392"/>
            <a:ext cx="914400" cy="21945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172741"/>
                </a:solidFill>
                <a:latin typeface="Calibri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1051560"/>
          </a:xfrm>
          <a:prstGeom prst="rect">
            <a:avLst/>
          </a:prstGeom>
          <a:solidFill>
            <a:srgbClr val="FF4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4754880" cy="20116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54880" y="914400"/>
            <a:ext cx="3200400" cy="201168"/>
          </a:xfrm>
          <a:prstGeom prst="rect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0" y="-411480"/>
            <a:ext cx="2926080" cy="29260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0" y="-320040"/>
            <a:ext cx="2194560" cy="2194560"/>
          </a:xfrm>
          <a:prstGeom prst="ellipse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5-Point Star 8"/>
          <p:cNvSpPr/>
          <p:nvPr/>
        </p:nvSpPr>
        <p:spPr>
          <a:xfrm>
            <a:off x="9646920" y="137160"/>
            <a:ext cx="320040" cy="320040"/>
          </a:xfrm>
          <a:prstGeom prst="star5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5-Point Star 9"/>
          <p:cNvSpPr/>
          <p:nvPr/>
        </p:nvSpPr>
        <p:spPr>
          <a:xfrm>
            <a:off x="10058400" y="530352"/>
            <a:ext cx="201168" cy="201168"/>
          </a:xfrm>
          <a:prstGeom prst="star5">
            <a:avLst/>
          </a:prstGeom>
          <a:solidFill>
            <a:srgbClr val="7D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"/>
            <a:ext cx="9418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LỜI CẢM 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264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 i="0">
                <a:solidFill>
                  <a:srgbClr val="DCEAFF"/>
                </a:solidFill>
                <a:latin typeface="Calibri"/>
              </a:defRPr>
            </a:pPr>
            <a:r>
              <a:t>Kết thúc phần trình bày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82880"/>
            <a:ext cx="1828800" cy="384048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30968" y="24688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NỘI DUNG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E1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1298448"/>
            <a:ext cx="7726679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CCD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6072" y="1371600"/>
            <a:ext cx="7580375" cy="4928616"/>
          </a:xfrm>
          <a:prstGeom prst="roundRect">
            <a:avLst/>
          </a:prstGeom>
          <a:solidFill>
            <a:srgbClr val="E9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0" y="1298448"/>
            <a:ext cx="3291840" cy="5074920"/>
          </a:xfrm>
          <a:prstGeom prst="roundRect">
            <a:avLst/>
          </a:prstGeom>
          <a:solidFill>
            <a:srgbClr val="E9F3FF"/>
          </a:solidFill>
          <a:ln>
            <a:solidFill>
              <a:srgbClr val="B9C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67344" y="1353312"/>
            <a:ext cx="3182112" cy="4965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1746504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1645920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Em xin chân thành cảm ơn thầy cô và các bạn đã lắng nghe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2551176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2450592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Rất mong nhận được góp ý để tiếp tục hoàn thiện hệ thống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3355848"/>
            <a:ext cx="109728" cy="109728"/>
          </a:xfrm>
          <a:prstGeom prst="ellipse">
            <a:avLst/>
          </a:prstGeom>
          <a:solidFill>
            <a:srgbClr val="1F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3255264"/>
            <a:ext cx="6720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 i="0">
                <a:solidFill>
                  <a:srgbClr val="172741"/>
                </a:solidFill>
                <a:latin typeface="Calibri"/>
              </a:defRPr>
            </a:pPr>
            <a:r>
              <a:t>Sẵn sàng trả lời câu hỏi về mô hình, mã nguồn và triển khai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41080" y="1554480"/>
            <a:ext cx="2834640" cy="420624"/>
          </a:xfrm>
          <a:prstGeom prst="roundRect">
            <a:avLst/>
          </a:prstGeom>
          <a:solidFill>
            <a:srgbClr val="6D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32520" y="1664208"/>
            <a:ext cx="2651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ẢNH MINH HỌA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2057400"/>
            <a:ext cx="2834640" cy="4069080"/>
          </a:xfrm>
          <a:prstGeom prst="roundRect">
            <a:avLst/>
          </a:prstGeom>
          <a:solidFill>
            <a:srgbClr val="FAFDFF"/>
          </a:solidFill>
          <a:ln>
            <a:solidFill>
              <a:srgbClr val="B6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686800" y="2103120"/>
            <a:ext cx="27432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9E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148840"/>
            <a:ext cx="2651760" cy="388620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11018520" y="6565392"/>
            <a:ext cx="914400" cy="219456"/>
          </a:xfrm>
          <a:prstGeom prst="roundRect">
            <a:avLst/>
          </a:prstGeom>
          <a:solidFill>
            <a:srgbClr val="D0D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155680" y="6583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 i="0">
                <a:solidFill>
                  <a:srgbClr val="172741"/>
                </a:solidFill>
                <a:latin typeface="Calibri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1743</Words>
  <Application>Microsoft Office PowerPoint</Application>
  <PresentationFormat>Widescreen</PresentationFormat>
  <Paragraphs>269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tuấn anh lê</cp:lastModifiedBy>
  <cp:revision>2</cp:revision>
  <dcterms:created xsi:type="dcterms:W3CDTF">2013-01-27T09:14:16Z</dcterms:created>
  <dcterms:modified xsi:type="dcterms:W3CDTF">2026-03-19T08:10:08Z</dcterms:modified>
  <cp:category/>
</cp:coreProperties>
</file>